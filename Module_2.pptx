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3"/>
  </p:notesMasterIdLst>
  <p:sldIdLst>
    <p:sldId id="256" r:id="rId2"/>
    <p:sldId id="257" r:id="rId3"/>
    <p:sldId id="259" r:id="rId4"/>
    <p:sldId id="267" r:id="rId5"/>
    <p:sldId id="266" r:id="rId6"/>
    <p:sldId id="268" r:id="rId7"/>
    <p:sldId id="260" r:id="rId8"/>
    <p:sldId id="261" r:id="rId9"/>
    <p:sldId id="265" r:id="rId10"/>
    <p:sldId id="262" r:id="rId11"/>
    <p:sldId id="263" r:id="rId1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495"/>
  </p:normalViewPr>
  <p:slideViewPr>
    <p:cSldViewPr snapToGrid="0" snapToObjects="1">
      <p:cViewPr varScale="1">
        <p:scale>
          <a:sx n="97" d="100"/>
          <a:sy n="97" d="100"/>
        </p:scale>
        <p:origin x="63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20Pavilion\DataScienceProjects\KPMG\data\distributions.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20Pavilion\DataScienceProjects\KPMG\data\distributions.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20Pavilion\DataScienceProjects\KPMG\data\distributions.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20Pavilion\DataScienceProjects\KPMG\data\distributions.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p%20Pavilion\DataScienceProjects\KPMG\data\customer_segment.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p%20Pavilion\DataScienceProjects\KPMG\data\customer_segment.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Hp%20Pavilion\DataScienceProjects\KPMG\data\feature_importance.csv"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[distributions.csv]distributions!PivotTable1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 Purchases</a:t>
            </a:r>
            <a:r>
              <a:rPr lang="en-US" baseline="0" dirty="0" smtClean="0"/>
              <a:t> vs State</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s>
    <c:plotArea>
      <c:layout/>
      <c:barChart>
        <c:barDir val="col"/>
        <c:grouping val="clustered"/>
        <c:varyColors val="0"/>
        <c:ser>
          <c:idx val="0"/>
          <c:order val="0"/>
          <c:tx>
            <c:strRef>
              <c:f>distributions!$O$3</c:f>
              <c:strCache>
                <c:ptCount val="1"/>
                <c:pt idx="0">
                  <c:v>Total</c:v>
                </c:pt>
              </c:strCache>
            </c:strRef>
          </c:tx>
          <c:spPr>
            <a:solidFill>
              <a:schemeClr val="accent5"/>
            </a:solidFill>
            <a:ln>
              <a:noFill/>
            </a:ln>
            <a:effectLst/>
          </c:spPr>
          <c:invertIfNegative val="0"/>
          <c:cat>
            <c:strRef>
              <c:f>distributions!$N$4:$N$7</c:f>
              <c:strCache>
                <c:ptCount val="3"/>
                <c:pt idx="0">
                  <c:v>NSW</c:v>
                </c:pt>
                <c:pt idx="1">
                  <c:v>QLD</c:v>
                </c:pt>
                <c:pt idx="2">
                  <c:v>VIC</c:v>
                </c:pt>
              </c:strCache>
            </c:strRef>
          </c:cat>
          <c:val>
            <c:numRef>
              <c:f>distributions!$O$4:$O$7</c:f>
              <c:numCache>
                <c:formatCode>General</c:formatCode>
                <c:ptCount val="3"/>
                <c:pt idx="0">
                  <c:v>91241</c:v>
                </c:pt>
                <c:pt idx="1">
                  <c:v>36277</c:v>
                </c:pt>
                <c:pt idx="2">
                  <c:v>42836</c:v>
                </c:pt>
              </c:numCache>
            </c:numRef>
          </c:val>
          <c:extLst>
            <c:ext xmlns:c16="http://schemas.microsoft.com/office/drawing/2014/chart" uri="{C3380CC4-5D6E-409C-BE32-E72D297353CC}">
              <c16:uniqueId val="{00000000-CD7C-4E4F-B6DD-486E9A28040E}"/>
            </c:ext>
          </c:extLst>
        </c:ser>
        <c:dLbls>
          <c:showLegendKey val="0"/>
          <c:showVal val="0"/>
          <c:showCatName val="0"/>
          <c:showSerName val="0"/>
          <c:showPercent val="0"/>
          <c:showBubbleSize val="0"/>
        </c:dLbls>
        <c:gapWidth val="219"/>
        <c:overlap val="-27"/>
        <c:axId val="1721741120"/>
        <c:axId val="1721744032"/>
      </c:barChart>
      <c:catAx>
        <c:axId val="1721741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1744032"/>
        <c:crosses val="autoZero"/>
        <c:auto val="1"/>
        <c:lblAlgn val="ctr"/>
        <c:lblOffset val="100"/>
        <c:noMultiLvlLbl val="0"/>
      </c:catAx>
      <c:valAx>
        <c:axId val="1721744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1741120"/>
        <c:crosses val="autoZero"/>
        <c:crossBetween val="between"/>
        <c:dispUnits>
          <c:builtInUnit val="thousands"/>
          <c:dispUnitsLbl>
            <c:layout>
              <c:manualLayout>
                <c:xMode val="edge"/>
                <c:yMode val="edge"/>
                <c:x val="3.707823507601038E-2"/>
                <c:y val="0.35503822098679638"/>
              </c:manualLayout>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[distributions.csv]distributions!PivotTable2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 Purchases</a:t>
            </a:r>
            <a:r>
              <a:rPr lang="en-US" baseline="0" dirty="0" smtClean="0"/>
              <a:t> vs Wealth Segment</a:t>
            </a:r>
            <a:endParaRPr lang="en-US" dirty="0"/>
          </a:p>
        </c:rich>
      </c:tx>
      <c:layout>
        <c:manualLayout>
          <c:xMode val="edge"/>
          <c:yMode val="edge"/>
          <c:x val="0.19134654266073595"/>
          <c:y val="4.758667573079537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distributions!$N$12</c:f>
              <c:strCache>
                <c:ptCount val="1"/>
                <c:pt idx="0">
                  <c:v>Total</c:v>
                </c:pt>
              </c:strCache>
            </c:strRef>
          </c:tx>
          <c:spPr>
            <a:solidFill>
              <a:schemeClr val="accent5"/>
            </a:solidFill>
            <a:ln>
              <a:noFill/>
            </a:ln>
            <a:effectLst/>
          </c:spPr>
          <c:invertIfNegative val="0"/>
          <c:cat>
            <c:strRef>
              <c:f>distributions!$M$13:$M$16</c:f>
              <c:strCache>
                <c:ptCount val="3"/>
                <c:pt idx="0">
                  <c:v>Affluent Customer</c:v>
                </c:pt>
                <c:pt idx="1">
                  <c:v>High Net Worth</c:v>
                </c:pt>
                <c:pt idx="2">
                  <c:v>Mass Customer</c:v>
                </c:pt>
              </c:strCache>
            </c:strRef>
          </c:cat>
          <c:val>
            <c:numRef>
              <c:f>distributions!$N$13:$N$16</c:f>
              <c:numCache>
                <c:formatCode>General</c:formatCode>
                <c:ptCount val="3"/>
                <c:pt idx="0">
                  <c:v>41127</c:v>
                </c:pt>
                <c:pt idx="1">
                  <c:v>42637</c:v>
                </c:pt>
                <c:pt idx="2">
                  <c:v>86590</c:v>
                </c:pt>
              </c:numCache>
            </c:numRef>
          </c:val>
          <c:extLst>
            <c:ext xmlns:c16="http://schemas.microsoft.com/office/drawing/2014/chart" uri="{C3380CC4-5D6E-409C-BE32-E72D297353CC}">
              <c16:uniqueId val="{00000000-BB5C-404B-B78C-36BE0B0D3B50}"/>
            </c:ext>
          </c:extLst>
        </c:ser>
        <c:dLbls>
          <c:showLegendKey val="0"/>
          <c:showVal val="0"/>
          <c:showCatName val="0"/>
          <c:showSerName val="0"/>
          <c:showPercent val="0"/>
          <c:showBubbleSize val="0"/>
        </c:dLbls>
        <c:gapWidth val="219"/>
        <c:overlap val="-27"/>
        <c:axId val="1726283088"/>
        <c:axId val="1726278512"/>
      </c:barChart>
      <c:catAx>
        <c:axId val="1726283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6278512"/>
        <c:crosses val="autoZero"/>
        <c:auto val="1"/>
        <c:lblAlgn val="ctr"/>
        <c:lblOffset val="100"/>
        <c:noMultiLvlLbl val="0"/>
      </c:catAx>
      <c:valAx>
        <c:axId val="1726278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6283088"/>
        <c:crosses val="autoZero"/>
        <c:crossBetween val="between"/>
        <c:dispUnits>
          <c:builtInUnit val="thousands"/>
          <c:dispUnitsLbl>
            <c:layout>
              <c:manualLayout>
                <c:xMode val="edge"/>
                <c:yMode val="edge"/>
                <c:x val="5.4043089789544009E-2"/>
                <c:y val="0.38598582690944994"/>
              </c:manualLayout>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[distributions.csv]distributions!PivotTable3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a:t>
            </a:r>
            <a:r>
              <a:rPr lang="en-US" baseline="0" dirty="0" smtClean="0"/>
              <a:t> Purchases vs Industry</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distributions!$N$18</c:f>
              <c:strCache>
                <c:ptCount val="1"/>
                <c:pt idx="0">
                  <c:v>Total</c:v>
                </c:pt>
              </c:strCache>
            </c:strRef>
          </c:tx>
          <c:spPr>
            <a:solidFill>
              <a:schemeClr val="accent5"/>
            </a:solidFill>
            <a:ln>
              <a:noFill/>
            </a:ln>
            <a:effectLst/>
          </c:spPr>
          <c:invertIfNegative val="0"/>
          <c:cat>
            <c:strRef>
              <c:f>distributions!$M$19:$M$29</c:f>
              <c:strCache>
                <c:ptCount val="10"/>
                <c:pt idx="0">
                  <c:v>Argiculture</c:v>
                </c:pt>
                <c:pt idx="1">
                  <c:v>Entertainment</c:v>
                </c:pt>
                <c:pt idx="2">
                  <c:v>Financial Services</c:v>
                </c:pt>
                <c:pt idx="3">
                  <c:v>Health</c:v>
                </c:pt>
                <c:pt idx="4">
                  <c:v>IT</c:v>
                </c:pt>
                <c:pt idx="5">
                  <c:v>Manufacturing</c:v>
                </c:pt>
                <c:pt idx="6">
                  <c:v>Property</c:v>
                </c:pt>
                <c:pt idx="7">
                  <c:v>Retail</c:v>
                </c:pt>
                <c:pt idx="8">
                  <c:v>Telecommunications</c:v>
                </c:pt>
                <c:pt idx="9">
                  <c:v>Unknown</c:v>
                </c:pt>
              </c:strCache>
            </c:strRef>
          </c:cat>
          <c:val>
            <c:numRef>
              <c:f>distributions!$N$19:$N$29</c:f>
              <c:numCache>
                <c:formatCode>General</c:formatCode>
                <c:ptCount val="10"/>
                <c:pt idx="0">
                  <c:v>5180</c:v>
                </c:pt>
                <c:pt idx="1">
                  <c:v>5697</c:v>
                </c:pt>
                <c:pt idx="2">
                  <c:v>33426</c:v>
                </c:pt>
                <c:pt idx="3">
                  <c:v>26638</c:v>
                </c:pt>
                <c:pt idx="4">
                  <c:v>8800</c:v>
                </c:pt>
                <c:pt idx="5">
                  <c:v>34145</c:v>
                </c:pt>
                <c:pt idx="6">
                  <c:v>11337</c:v>
                </c:pt>
                <c:pt idx="7">
                  <c:v>14779</c:v>
                </c:pt>
                <c:pt idx="8">
                  <c:v>2683</c:v>
                </c:pt>
                <c:pt idx="9">
                  <c:v>27669</c:v>
                </c:pt>
              </c:numCache>
            </c:numRef>
          </c:val>
          <c:extLst>
            <c:ext xmlns:c16="http://schemas.microsoft.com/office/drawing/2014/chart" uri="{C3380CC4-5D6E-409C-BE32-E72D297353CC}">
              <c16:uniqueId val="{00000000-B3C7-4B0F-845A-305ECBF8BEAF}"/>
            </c:ext>
          </c:extLst>
        </c:ser>
        <c:dLbls>
          <c:showLegendKey val="0"/>
          <c:showVal val="0"/>
          <c:showCatName val="0"/>
          <c:showSerName val="0"/>
          <c:showPercent val="0"/>
          <c:showBubbleSize val="0"/>
        </c:dLbls>
        <c:gapWidth val="219"/>
        <c:overlap val="-27"/>
        <c:axId val="1730662176"/>
        <c:axId val="1730660512"/>
      </c:barChart>
      <c:catAx>
        <c:axId val="1730662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0660512"/>
        <c:crosses val="autoZero"/>
        <c:auto val="1"/>
        <c:lblAlgn val="ctr"/>
        <c:lblOffset val="100"/>
        <c:noMultiLvlLbl val="0"/>
      </c:catAx>
      <c:valAx>
        <c:axId val="173066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0662176"/>
        <c:crosses val="autoZero"/>
        <c:crossBetween val="between"/>
        <c:dispUnits>
          <c:builtInUnit val="thousands"/>
          <c:dispUnitsLbl>
            <c:layout>
              <c:manualLayout>
                <c:xMode val="edge"/>
                <c:yMode val="edge"/>
                <c:x val="3.3046883639841013E-2"/>
                <c:y val="0.25533947896973491"/>
              </c:manualLayout>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[distributions.csv]distributions!PivotTable5</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 Purchases vs Gender</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distributions!$N$709</c:f>
              <c:strCache>
                <c:ptCount val="1"/>
                <c:pt idx="0">
                  <c:v>Total</c:v>
                </c:pt>
              </c:strCache>
            </c:strRef>
          </c:tx>
          <c:spPr>
            <a:solidFill>
              <a:schemeClr val="accent5"/>
            </a:solidFill>
            <a:ln>
              <a:noFill/>
            </a:ln>
            <a:effectLst/>
          </c:spPr>
          <c:invertIfNegative val="0"/>
          <c:cat>
            <c:strRef>
              <c:f>distributions!$M$710:$M$713</c:f>
              <c:strCache>
                <c:ptCount val="3"/>
                <c:pt idx="0">
                  <c:v>Female</c:v>
                </c:pt>
                <c:pt idx="1">
                  <c:v>Male</c:v>
                </c:pt>
                <c:pt idx="2">
                  <c:v>Unknown</c:v>
                </c:pt>
              </c:strCache>
            </c:strRef>
          </c:cat>
          <c:val>
            <c:numRef>
              <c:f>distributions!$N$710:$N$713</c:f>
              <c:numCache>
                <c:formatCode>General</c:formatCode>
                <c:ptCount val="3"/>
                <c:pt idx="0">
                  <c:v>84828</c:v>
                </c:pt>
                <c:pt idx="1">
                  <c:v>82428</c:v>
                </c:pt>
                <c:pt idx="2">
                  <c:v>3098</c:v>
                </c:pt>
              </c:numCache>
            </c:numRef>
          </c:val>
          <c:extLst>
            <c:ext xmlns:c16="http://schemas.microsoft.com/office/drawing/2014/chart" uri="{C3380CC4-5D6E-409C-BE32-E72D297353CC}">
              <c16:uniqueId val="{00000000-FBAE-455C-B24C-FF59175FFCC1}"/>
            </c:ext>
          </c:extLst>
        </c:ser>
        <c:dLbls>
          <c:showLegendKey val="0"/>
          <c:showVal val="0"/>
          <c:showCatName val="0"/>
          <c:showSerName val="0"/>
          <c:showPercent val="0"/>
          <c:showBubbleSize val="0"/>
        </c:dLbls>
        <c:gapWidth val="219"/>
        <c:overlap val="-27"/>
        <c:axId val="1819675008"/>
        <c:axId val="1819662528"/>
      </c:barChart>
      <c:catAx>
        <c:axId val="181967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9662528"/>
        <c:crosses val="autoZero"/>
        <c:auto val="1"/>
        <c:lblAlgn val="ctr"/>
        <c:lblOffset val="100"/>
        <c:noMultiLvlLbl val="0"/>
      </c:catAx>
      <c:valAx>
        <c:axId val="1819662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9675008"/>
        <c:crosses val="autoZero"/>
        <c:crossBetween val="between"/>
        <c:dispUnits>
          <c:builtInUnit val="thousands"/>
          <c:dispUnitsLbl>
            <c:layout>
              <c:manualLayout>
                <c:xMode val="edge"/>
                <c:yMode val="edge"/>
                <c:x val="4.0630721420708289E-2"/>
                <c:y val="0.35066922013246626"/>
              </c:manualLayout>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Customer Segmentation</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marker>
          <c:symbol val="none"/>
        </c:marke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s>
    <c:plotArea>
      <c:layout>
        <c:manualLayout>
          <c:layoutTarget val="inner"/>
          <c:xMode val="edge"/>
          <c:yMode val="edge"/>
          <c:x val="0.20024821042153396"/>
          <c:y val="0.10772412625444371"/>
          <c:w val="0.55997831989219315"/>
          <c:h val="0.65136838024925414"/>
        </c:manualLayout>
      </c:layout>
      <c:doughnutChart>
        <c:varyColors val="1"/>
        <c:ser>
          <c:idx val="0"/>
          <c:order val="0"/>
          <c:tx>
            <c:v>Total</c:v>
          </c:tx>
          <c:dPt>
            <c:idx val="0"/>
            <c:bubble3D val="0"/>
            <c:spPr>
              <a:solidFill>
                <a:schemeClr val="accent1"/>
              </a:solidFill>
              <a:ln>
                <a:noFill/>
              </a:ln>
              <a:effectLst/>
            </c:spPr>
            <c:extLst>
              <c:ext xmlns:c16="http://schemas.microsoft.com/office/drawing/2014/chart" uri="{C3380CC4-5D6E-409C-BE32-E72D297353CC}">
                <c16:uniqueId val="{00000001-82B0-48A3-A0C1-2278E66B070D}"/>
              </c:ext>
            </c:extLst>
          </c:dPt>
          <c:dPt>
            <c:idx val="1"/>
            <c:bubble3D val="0"/>
            <c:spPr>
              <a:solidFill>
                <a:schemeClr val="accent2"/>
              </a:solidFill>
              <a:ln>
                <a:noFill/>
              </a:ln>
              <a:effectLst/>
            </c:spPr>
            <c:extLst>
              <c:ext xmlns:c16="http://schemas.microsoft.com/office/drawing/2014/chart" uri="{C3380CC4-5D6E-409C-BE32-E72D297353CC}">
                <c16:uniqueId val="{00000003-82B0-48A3-A0C1-2278E66B070D}"/>
              </c:ext>
            </c:extLst>
          </c:dPt>
          <c:dPt>
            <c:idx val="2"/>
            <c:bubble3D val="0"/>
            <c:spPr>
              <a:solidFill>
                <a:schemeClr val="accent3"/>
              </a:solidFill>
              <a:ln>
                <a:noFill/>
              </a:ln>
              <a:effectLst/>
            </c:spPr>
            <c:extLst>
              <c:ext xmlns:c16="http://schemas.microsoft.com/office/drawing/2014/chart" uri="{C3380CC4-5D6E-409C-BE32-E72D297353CC}">
                <c16:uniqueId val="{00000005-82B0-48A3-A0C1-2278E66B070D}"/>
              </c:ext>
            </c:extLst>
          </c:dPt>
          <c:dPt>
            <c:idx val="3"/>
            <c:bubble3D val="0"/>
            <c:spPr>
              <a:solidFill>
                <a:schemeClr val="accent4"/>
              </a:solidFill>
              <a:ln>
                <a:noFill/>
              </a:ln>
              <a:effectLst/>
            </c:spPr>
            <c:extLst>
              <c:ext xmlns:c16="http://schemas.microsoft.com/office/drawing/2014/chart" uri="{C3380CC4-5D6E-409C-BE32-E72D297353CC}">
                <c16:uniqueId val="{00000007-82B0-48A3-A0C1-2278E66B070D}"/>
              </c:ext>
            </c:extLst>
          </c:dPt>
          <c:dPt>
            <c:idx val="4"/>
            <c:bubble3D val="0"/>
            <c:spPr>
              <a:solidFill>
                <a:schemeClr val="accent5"/>
              </a:solidFill>
              <a:ln>
                <a:noFill/>
              </a:ln>
              <a:effectLst/>
            </c:spPr>
            <c:extLst>
              <c:ext xmlns:c16="http://schemas.microsoft.com/office/drawing/2014/chart" uri="{C3380CC4-5D6E-409C-BE32-E72D297353CC}">
                <c16:uniqueId val="{00000009-82B0-48A3-A0C1-2278E66B070D}"/>
              </c:ext>
            </c:extLst>
          </c:dPt>
          <c:dPt>
            <c:idx val="5"/>
            <c:bubble3D val="0"/>
            <c:spPr>
              <a:solidFill>
                <a:schemeClr val="accent6"/>
              </a:solidFill>
              <a:ln>
                <a:noFill/>
              </a:ln>
              <a:effectLst/>
            </c:spPr>
            <c:extLst>
              <c:ext xmlns:c16="http://schemas.microsoft.com/office/drawing/2014/chart" uri="{C3380CC4-5D6E-409C-BE32-E72D297353CC}">
                <c16:uniqueId val="{0000000B-82B0-48A3-A0C1-2278E66B070D}"/>
              </c:ext>
            </c:extLst>
          </c:dPt>
          <c:dLbls>
            <c:dLbl>
              <c:idx val="5"/>
              <c:delete val="1"/>
              <c:extLst>
                <c:ext xmlns:c15="http://schemas.microsoft.com/office/drawing/2012/chart" uri="{CE6537A1-D6FC-4f65-9D91-7224C49458BB}"/>
                <c:ext xmlns:c16="http://schemas.microsoft.com/office/drawing/2014/chart" uri="{C3380CC4-5D6E-409C-BE32-E72D297353CC}">
                  <c16:uniqueId val="{0000000B-82B0-48A3-A0C1-2278E66B070D}"/>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Lit>
              <c:ptCount val="6"/>
              <c:pt idx="0">
                <c:v>High Value Customer</c:v>
              </c:pt>
              <c:pt idx="1">
                <c:v>Lost Customer</c:v>
              </c:pt>
              <c:pt idx="2">
                <c:v>Low Value Customer</c:v>
              </c:pt>
              <c:pt idx="3">
                <c:v>Medium Value Customer</c:v>
              </c:pt>
              <c:pt idx="4">
                <c:v>Top Customer</c:v>
              </c:pt>
              <c:pt idx="5">
                <c:v>(blank)</c:v>
              </c:pt>
            </c:strLit>
          </c:cat>
          <c:val>
            <c:numLit>
              <c:formatCode>General</c:formatCode>
              <c:ptCount val="6"/>
              <c:pt idx="0">
                <c:v>307</c:v>
              </c:pt>
              <c:pt idx="1">
                <c:v>938</c:v>
              </c:pt>
              <c:pt idx="2">
                <c:v>1249</c:v>
              </c:pt>
              <c:pt idx="3">
                <c:v>826</c:v>
              </c:pt>
              <c:pt idx="4">
                <c:v>174</c:v>
              </c:pt>
              <c:pt idx="5">
                <c:v>0</c:v>
              </c:pt>
            </c:numLit>
          </c:val>
          <c:extLst>
            <c:ext xmlns:c16="http://schemas.microsoft.com/office/drawing/2014/chart" uri="{C3380CC4-5D6E-409C-BE32-E72D297353CC}">
              <c16:uniqueId val="{0000000C-82B0-48A3-A0C1-2278E66B070D}"/>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egendEntry>
        <c:idx val="5"/>
        <c:delete val="1"/>
      </c:legendEntry>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[customer_segment.xlsx]customer_segment!PivotTable2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Target</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c:spPr>
        <c:marker>
          <c:symbol val="none"/>
        </c:marker>
      </c:pivotFmt>
      <c:pivotFmt>
        <c:idx val="1"/>
        <c:spPr>
          <a:solidFill>
            <a:schemeClr val="accent5"/>
          </a:solidFill>
          <a:ln>
            <a:noFill/>
          </a:ln>
          <a:effectLst/>
        </c:spPr>
        <c:marker>
          <c:symbol val="none"/>
        </c:marker>
      </c:pivotFmt>
      <c:pivotFmt>
        <c:idx val="2"/>
        <c:spPr>
          <a:solidFill>
            <a:schemeClr val="accent5"/>
          </a:solidFill>
          <a:ln>
            <a:noFill/>
          </a:ln>
          <a:effectLst/>
        </c:spPr>
      </c:pivotFmt>
      <c:pivotFmt>
        <c:idx val="3"/>
        <c:spPr>
          <a:solidFill>
            <a:schemeClr val="accent5"/>
          </a:solidFill>
          <a:ln>
            <a:noFill/>
          </a:ln>
          <a:effectLst/>
        </c:spPr>
      </c:pivotFmt>
      <c:pivotFmt>
        <c:idx val="4"/>
        <c:spPr>
          <a:solidFill>
            <a:schemeClr val="accent5"/>
          </a:solidFill>
          <a:ln>
            <a:noFill/>
          </a:ln>
          <a:effectLst/>
        </c:spPr>
        <c:marker>
          <c:symbol val="none"/>
        </c:marker>
      </c:pivotFmt>
      <c:pivotFmt>
        <c:idx val="5"/>
        <c:spPr>
          <a:solidFill>
            <a:schemeClr val="accent5"/>
          </a:solidFill>
          <a:ln>
            <a:noFill/>
          </a:ln>
          <a:effectLst/>
        </c:spPr>
      </c:pivotFmt>
      <c:pivotFmt>
        <c:idx val="6"/>
        <c:spPr>
          <a:solidFill>
            <a:schemeClr val="accent5"/>
          </a:solidFill>
          <a:ln>
            <a:noFill/>
          </a:ln>
          <a:effectLst/>
        </c:spPr>
      </c:pivotFmt>
    </c:pivotFmts>
    <c:plotArea>
      <c:layout/>
      <c:doughnutChart>
        <c:varyColors val="1"/>
        <c:ser>
          <c:idx val="0"/>
          <c:order val="0"/>
          <c:tx>
            <c:strRef>
              <c:f>customer_segment!$F$2</c:f>
              <c:strCache>
                <c:ptCount val="1"/>
                <c:pt idx="0">
                  <c:v>Total</c:v>
                </c:pt>
              </c:strCache>
            </c:strRef>
          </c:tx>
          <c:dPt>
            <c:idx val="0"/>
            <c:bubble3D val="0"/>
            <c:spPr>
              <a:solidFill>
                <a:schemeClr val="accent5">
                  <a:shade val="76000"/>
                </a:schemeClr>
              </a:solidFill>
              <a:ln>
                <a:noFill/>
              </a:ln>
              <a:effectLst/>
            </c:spPr>
            <c:extLst>
              <c:ext xmlns:c16="http://schemas.microsoft.com/office/drawing/2014/chart" uri="{C3380CC4-5D6E-409C-BE32-E72D297353CC}">
                <c16:uniqueId val="{00000001-2FDA-4EC6-9DEC-E4995A1E71FA}"/>
              </c:ext>
            </c:extLst>
          </c:dPt>
          <c:dPt>
            <c:idx val="1"/>
            <c:bubble3D val="0"/>
            <c:spPr>
              <a:solidFill>
                <a:schemeClr val="accent5">
                  <a:tint val="77000"/>
                </a:schemeClr>
              </a:solidFill>
              <a:ln>
                <a:noFill/>
              </a:ln>
              <a:effectLst/>
            </c:spPr>
            <c:extLst>
              <c:ext xmlns:c16="http://schemas.microsoft.com/office/drawing/2014/chart" uri="{C3380CC4-5D6E-409C-BE32-E72D297353CC}">
                <c16:uniqueId val="{00000003-2FDA-4EC6-9DEC-E4995A1E71FA}"/>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customer_segment!$E$3:$E$5</c:f>
              <c:strCache>
                <c:ptCount val="2"/>
                <c:pt idx="0">
                  <c:v>0</c:v>
                </c:pt>
                <c:pt idx="1">
                  <c:v>1</c:v>
                </c:pt>
              </c:strCache>
            </c:strRef>
          </c:cat>
          <c:val>
            <c:numRef>
              <c:f>customer_segment!$F$3:$F$5</c:f>
              <c:numCache>
                <c:formatCode>General</c:formatCode>
                <c:ptCount val="2"/>
                <c:pt idx="0">
                  <c:v>3013</c:v>
                </c:pt>
                <c:pt idx="1">
                  <c:v>481</c:v>
                </c:pt>
              </c:numCache>
            </c:numRef>
          </c:val>
          <c:extLst>
            <c:ext xmlns:c16="http://schemas.microsoft.com/office/drawing/2014/chart" uri="{C3380CC4-5D6E-409C-BE32-E72D297353CC}">
              <c16:uniqueId val="{00000004-2FDA-4EC6-9DEC-E4995A1E71FA}"/>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0.44082639057243039"/>
          <c:y val="0.90654497832945213"/>
          <c:w val="0.20026812432841251"/>
          <c:h val="6.8942355667202915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Feature</a:t>
            </a:r>
            <a:r>
              <a:rPr lang="en-US" baseline="0" dirty="0" smtClean="0"/>
              <a:t> Importance</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feature_importance!$B$1</c:f>
              <c:strCache>
                <c:ptCount val="1"/>
                <c:pt idx="0">
                  <c:v>importance</c:v>
                </c:pt>
              </c:strCache>
            </c:strRef>
          </c:tx>
          <c:spPr>
            <a:solidFill>
              <a:schemeClr val="accent5"/>
            </a:solidFill>
            <a:ln>
              <a:noFill/>
            </a:ln>
            <a:effectLst/>
          </c:spPr>
          <c:invertIfNegative val="0"/>
          <c:cat>
            <c:strRef>
              <c:f>feature_importance!$A$2:$A$26</c:f>
              <c:strCache>
                <c:ptCount val="25"/>
                <c:pt idx="0">
                  <c:v>age_group_Senior Citizen</c:v>
                </c:pt>
                <c:pt idx="1">
                  <c:v>job_industry_category_Telecommunications</c:v>
                </c:pt>
                <c:pt idx="2">
                  <c:v>job_industry_category_Entertainment</c:v>
                </c:pt>
                <c:pt idx="3">
                  <c:v>age_group_Young Adult</c:v>
                </c:pt>
                <c:pt idx="4">
                  <c:v>job_industry_category_Argiculture</c:v>
                </c:pt>
                <c:pt idx="5">
                  <c:v>job_industry_category_IT</c:v>
                </c:pt>
                <c:pt idx="6">
                  <c:v>job_industry_category_Property</c:v>
                </c:pt>
                <c:pt idx="7">
                  <c:v>job_industry_category_Retail</c:v>
                </c:pt>
                <c:pt idx="8">
                  <c:v>age_group_Middle Aged</c:v>
                </c:pt>
                <c:pt idx="9">
                  <c:v>job_industry_category_Health</c:v>
                </c:pt>
                <c:pt idx="10">
                  <c:v>state_QLD</c:v>
                </c:pt>
                <c:pt idx="11">
                  <c:v>wealth_segment_High Net Worth</c:v>
                </c:pt>
                <c:pt idx="12">
                  <c:v>job_industry_category_Financial Services</c:v>
                </c:pt>
                <c:pt idx="13">
                  <c:v>job_industry_category_Manufacturing</c:v>
                </c:pt>
                <c:pt idx="14">
                  <c:v>wealth_segment_Affluent Customer</c:v>
                </c:pt>
                <c:pt idx="15">
                  <c:v>job_industry_category_Unknown</c:v>
                </c:pt>
                <c:pt idx="16">
                  <c:v>state_VIC</c:v>
                </c:pt>
                <c:pt idx="17">
                  <c:v>state_NSW</c:v>
                </c:pt>
                <c:pt idx="18">
                  <c:v>wealth_segment_Mass Customer</c:v>
                </c:pt>
                <c:pt idx="19">
                  <c:v>owns_car</c:v>
                </c:pt>
                <c:pt idx="20">
                  <c:v>gender</c:v>
                </c:pt>
                <c:pt idx="21">
                  <c:v>property_valuation</c:v>
                </c:pt>
                <c:pt idx="22">
                  <c:v>tenure</c:v>
                </c:pt>
                <c:pt idx="23">
                  <c:v>age</c:v>
                </c:pt>
                <c:pt idx="24">
                  <c:v>past_3_years_bike_related_purchases</c:v>
                </c:pt>
              </c:strCache>
            </c:strRef>
          </c:cat>
          <c:val>
            <c:numRef>
              <c:f>feature_importance!$B$2:$B$26</c:f>
              <c:numCache>
                <c:formatCode>General</c:formatCode>
                <c:ptCount val="25"/>
                <c:pt idx="0">
                  <c:v>0.25</c:v>
                </c:pt>
                <c:pt idx="1">
                  <c:v>0.38</c:v>
                </c:pt>
                <c:pt idx="2">
                  <c:v>0.49</c:v>
                </c:pt>
                <c:pt idx="3">
                  <c:v>0.5</c:v>
                </c:pt>
                <c:pt idx="4">
                  <c:v>0.78</c:v>
                </c:pt>
                <c:pt idx="5">
                  <c:v>0.89</c:v>
                </c:pt>
                <c:pt idx="6">
                  <c:v>1.17</c:v>
                </c:pt>
                <c:pt idx="7">
                  <c:v>1.34</c:v>
                </c:pt>
                <c:pt idx="8">
                  <c:v>1.51</c:v>
                </c:pt>
                <c:pt idx="9">
                  <c:v>1.71</c:v>
                </c:pt>
                <c:pt idx="10">
                  <c:v>2.04</c:v>
                </c:pt>
                <c:pt idx="11">
                  <c:v>2.08</c:v>
                </c:pt>
                <c:pt idx="12">
                  <c:v>2.16</c:v>
                </c:pt>
                <c:pt idx="13">
                  <c:v>2.42</c:v>
                </c:pt>
                <c:pt idx="14">
                  <c:v>2.4500000000000002</c:v>
                </c:pt>
                <c:pt idx="15">
                  <c:v>2.48</c:v>
                </c:pt>
                <c:pt idx="16">
                  <c:v>2.61</c:v>
                </c:pt>
                <c:pt idx="17">
                  <c:v>3.89</c:v>
                </c:pt>
                <c:pt idx="18">
                  <c:v>3.96</c:v>
                </c:pt>
                <c:pt idx="19">
                  <c:v>5.66</c:v>
                </c:pt>
                <c:pt idx="20">
                  <c:v>5.71</c:v>
                </c:pt>
                <c:pt idx="21">
                  <c:v>16.39</c:v>
                </c:pt>
                <c:pt idx="22">
                  <c:v>21.39</c:v>
                </c:pt>
                <c:pt idx="23">
                  <c:v>28.57</c:v>
                </c:pt>
                <c:pt idx="24">
                  <c:v>39.17</c:v>
                </c:pt>
              </c:numCache>
            </c:numRef>
          </c:val>
          <c:extLst>
            <c:ext xmlns:c16="http://schemas.microsoft.com/office/drawing/2014/chart" uri="{C3380CC4-5D6E-409C-BE32-E72D297353CC}">
              <c16:uniqueId val="{00000000-7A1E-44C0-A7F0-E598F56B1D60}"/>
            </c:ext>
          </c:extLst>
        </c:ser>
        <c:dLbls>
          <c:showLegendKey val="0"/>
          <c:showVal val="0"/>
          <c:showCatName val="0"/>
          <c:showSerName val="0"/>
          <c:showPercent val="0"/>
          <c:showBubbleSize val="0"/>
        </c:dLbls>
        <c:gapWidth val="33"/>
        <c:axId val="744007216"/>
        <c:axId val="744005552"/>
      </c:barChart>
      <c:catAx>
        <c:axId val="744007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4005552"/>
        <c:crosses val="autoZero"/>
        <c:auto val="1"/>
        <c:lblAlgn val="ctr"/>
        <c:lblOffset val="100"/>
        <c:noMultiLvlLbl val="0"/>
      </c:catAx>
      <c:valAx>
        <c:axId val="7440055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40072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8">
  <a:schemeClr val="accent5"/>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7085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C43B3B-70EA-48E1-B09B-B85BF3A9CB54}"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76940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C43B3B-70EA-48E1-B09B-B85BF3A9CB54}"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47393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8C43B3B-70EA-48E1-B09B-B85BF3A9CB54}"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57618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C43B3B-70EA-48E1-B09B-B85BF3A9CB54}"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143001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C43B3B-70EA-48E1-B09B-B85BF3A9CB54}" type="datetimeFigureOut">
              <a:rPr lang="en-US" smtClean="0"/>
              <a:t>7/12/2023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02836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C43B3B-70EA-48E1-B09B-B85BF3A9CB54}" type="datetimeFigureOut">
              <a:rPr lang="en-US" smtClean="0"/>
              <a:t>7/12/2023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519112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C43B3B-70EA-48E1-B09B-B85BF3A9CB54}" type="datetimeFigureOut">
              <a:rPr lang="en-US" smtClean="0"/>
              <a:t>7/12/2023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24292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B8C43B3B-70EA-48E1-B09B-B85BF3A9CB54}"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91191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B8C43B3B-70EA-48E1-B09B-B85BF3A9CB54}"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190296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C43B3B-70EA-48E1-B09B-B85BF3A9CB54}"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87490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C43B3B-70EA-48E1-B09B-B85BF3A9CB54}"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539624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a:spLocks noGrp="1"/>
          </p:cNvSpPr>
          <p:nvPr>
            <p:ph type="title"/>
          </p:nvPr>
        </p:nvSpPr>
        <p:spPr>
          <a:prstGeom prst="rect">
            <a:avLst/>
          </a:prstGeom>
        </p:spPr>
        <p:txBody>
          <a:bodyPr/>
          <a:lstStyle/>
          <a:p>
            <a:r>
              <a:t>Title Text</a:t>
            </a:r>
          </a:p>
        </p:txBody>
      </p:sp>
      <p:sp>
        <p:nvSpPr>
          <p:cNvPr id="29"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8772629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C43B3B-70EA-48E1-B09B-B85BF3A9CB54}" type="datetimeFigureOut">
              <a:rPr lang="en-US" smtClean="0"/>
              <a:t>7/12/2023</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6CB4B4D-7CA3-9044-876B-883B54F8677D}" type="slidenum">
              <a:rPr lang="en-US" smtClean="0"/>
              <a:t>‹#›</a:t>
            </a:fld>
            <a:endParaRPr lang="en-US"/>
          </a:p>
        </p:txBody>
      </p:sp>
    </p:spTree>
    <p:extLst>
      <p:ext uri="{BB962C8B-B14F-4D97-AF65-F5344CB8AC3E}">
        <p14:creationId xmlns:p14="http://schemas.microsoft.com/office/powerpoint/2010/main" val="18293760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54"/>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10" name="Shape 55"/>
          <p:cNvSpPr/>
          <p:nvPr/>
        </p:nvSpPr>
        <p:spPr>
          <a:xfrm>
            <a:off x="537898" y="1895175"/>
            <a:ext cx="6413507" cy="723243"/>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dirty="0"/>
              <a:t>Sprocket Central Pty Ltd</a:t>
            </a:r>
          </a:p>
        </p:txBody>
      </p:sp>
      <p:sp>
        <p:nvSpPr>
          <p:cNvPr id="111" name="Shape 56"/>
          <p:cNvSpPr/>
          <p:nvPr/>
        </p:nvSpPr>
        <p:spPr>
          <a:xfrm>
            <a:off x="537900" y="3315475"/>
            <a:ext cx="5550600" cy="5257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a:solidFill>
                  <a:srgbClr val="FFFFFF"/>
                </a:solidFill>
                <a:latin typeface="Open Sans Light"/>
                <a:ea typeface="Open Sans Light"/>
                <a:cs typeface="Open Sans Light"/>
                <a:sym typeface="Open Sans Light"/>
              </a:defRPr>
            </a:lvl1pPr>
          </a:lstStyle>
          <a:p>
            <a:r>
              <a:t>Data analytics approach</a:t>
            </a:r>
          </a:p>
        </p:txBody>
      </p:sp>
      <p:pic>
        <p:nvPicPr>
          <p:cNvPr id="112" name="Shape 57" descr="Shape 57"/>
          <p:cNvPicPr>
            <a:picLocks noChangeAspect="1"/>
          </p:cNvPicPr>
          <p:nvPr/>
        </p:nvPicPr>
        <p:blipFill>
          <a:blip r:embed="rId3"/>
          <a:stretch>
            <a:fillRect/>
          </a:stretch>
        </p:blipFill>
        <p:spPr>
          <a:xfrm>
            <a:off x="614100" y="1275524"/>
            <a:ext cx="1982300" cy="238701"/>
          </a:xfrm>
          <a:prstGeom prst="rect">
            <a:avLst/>
          </a:prstGeom>
          <a:ln w="12700">
            <a:miter lim="400000"/>
          </a:ln>
        </p:spPr>
      </p:pic>
      <p:sp>
        <p:nvSpPr>
          <p:cNvPr id="113" name="Shape 58"/>
          <p:cNvSpPr/>
          <p:nvPr/>
        </p:nvSpPr>
        <p:spPr>
          <a:xfrm>
            <a:off x="537900" y="3666599"/>
            <a:ext cx="6249600" cy="3693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1200">
                <a:solidFill>
                  <a:srgbClr val="FFFFFF"/>
                </a:solidFill>
                <a:latin typeface="Open Sans Light"/>
                <a:ea typeface="Open Sans Light"/>
                <a:cs typeface="Open Sans Light"/>
                <a:sym typeface="Open Sans Light"/>
              </a:defRPr>
            </a:lvl1pPr>
          </a:lstStyle>
          <a:p>
            <a:r>
              <a:rPr lang="en-US" dirty="0"/>
              <a:t>[Junior Consultant</a:t>
            </a:r>
            <a:r>
              <a:rPr lang="en-US" dirty="0" smtClean="0"/>
              <a:t>] </a:t>
            </a:r>
            <a:r>
              <a:rPr dirty="0" smtClean="0"/>
              <a:t>-  </a:t>
            </a:r>
            <a:r>
              <a:rPr lang="en-US" dirty="0" smtClean="0"/>
              <a:t>Dalphon Orechi</a:t>
            </a:r>
            <a:endParaRPr dirty="0"/>
          </a:p>
        </p:txBody>
      </p:sp>
      <p:sp>
        <p:nvSpPr>
          <p:cNvPr id="114"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6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17" name="Shape 64"/>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Agenda</a:t>
            </a:r>
          </a:p>
        </p:txBody>
      </p:sp>
      <p:sp>
        <p:nvSpPr>
          <p:cNvPr id="118" name="Shape 65"/>
          <p:cNvSpPr/>
          <p:nvPr/>
        </p:nvSpPr>
        <p:spPr>
          <a:xfrm>
            <a:off x="343873" y="1211200"/>
            <a:ext cx="8426751" cy="1600406"/>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p>
            <a:pPr marL="457200" indent="-355600">
              <a:lnSpc>
                <a:spcPct val="115000"/>
              </a:lnSpc>
              <a:buClr>
                <a:srgbClr val="000000"/>
              </a:buClr>
              <a:buSzPts val="2000"/>
              <a:buAutoNum type="arabicPeriod"/>
              <a:defRPr sz="2000">
                <a:latin typeface="Open Sans"/>
                <a:ea typeface="Open Sans"/>
                <a:cs typeface="Open Sans"/>
                <a:sym typeface="Open Sans"/>
              </a:defRPr>
            </a:pPr>
            <a:r>
              <a:rPr dirty="0" smtClean="0"/>
              <a:t>Introduction</a:t>
            </a:r>
            <a:r>
              <a:rPr lang="en-US" dirty="0" smtClean="0"/>
              <a:t>.</a:t>
            </a:r>
            <a:endParaRPr dirty="0"/>
          </a:p>
          <a:p>
            <a:pPr marL="457200" indent="-355600">
              <a:lnSpc>
                <a:spcPct val="115000"/>
              </a:lnSpc>
              <a:buClr>
                <a:srgbClr val="000000"/>
              </a:buClr>
              <a:buSzPts val="2000"/>
              <a:buAutoNum type="arabicPeriod"/>
              <a:defRPr sz="2000">
                <a:latin typeface="Open Sans"/>
                <a:ea typeface="Open Sans"/>
                <a:cs typeface="Open Sans"/>
                <a:sym typeface="Open Sans"/>
              </a:defRPr>
            </a:pPr>
            <a:r>
              <a:rPr dirty="0"/>
              <a:t>Data Exploration</a:t>
            </a:r>
            <a:r>
              <a:rPr lang="en-GB" dirty="0"/>
              <a:t> – F</a:t>
            </a:r>
            <a:r>
              <a:rPr lang="en-GB" dirty="0" smtClean="0"/>
              <a:t>eature Engineering</a:t>
            </a:r>
            <a:r>
              <a:rPr lang="en-GB" dirty="0"/>
              <a:t> </a:t>
            </a:r>
            <a:r>
              <a:rPr lang="en-GB" dirty="0" smtClean="0"/>
              <a:t>&amp; Data transformations. </a:t>
            </a:r>
          </a:p>
          <a:p>
            <a:pPr marL="457200" indent="-355600">
              <a:lnSpc>
                <a:spcPct val="115000"/>
              </a:lnSpc>
              <a:buClr>
                <a:srgbClr val="000000"/>
              </a:buClr>
              <a:buSzPts val="2000"/>
              <a:buAutoNum type="arabicPeriod"/>
              <a:defRPr sz="2000">
                <a:latin typeface="Open Sans"/>
                <a:ea typeface="Open Sans"/>
                <a:cs typeface="Open Sans"/>
                <a:sym typeface="Open Sans"/>
              </a:defRPr>
            </a:pPr>
            <a:r>
              <a:rPr dirty="0" smtClean="0"/>
              <a:t>Model </a:t>
            </a:r>
            <a:r>
              <a:rPr dirty="0"/>
              <a:t>Development</a:t>
            </a:r>
            <a:r>
              <a:rPr lang="en-GB" dirty="0"/>
              <a:t> </a:t>
            </a:r>
            <a:r>
              <a:rPr lang="en-GB" dirty="0" smtClean="0"/>
              <a:t>– Modelling.</a:t>
            </a:r>
            <a:endParaRPr dirty="0"/>
          </a:p>
          <a:p>
            <a:pPr marL="457200" indent="-355600">
              <a:lnSpc>
                <a:spcPct val="115000"/>
              </a:lnSpc>
              <a:buClr>
                <a:srgbClr val="000000"/>
              </a:buClr>
              <a:buSzPts val="2000"/>
              <a:buAutoNum type="arabicPeriod"/>
              <a:defRPr sz="2000">
                <a:latin typeface="Open Sans"/>
                <a:ea typeface="Open Sans"/>
                <a:cs typeface="Open Sans"/>
                <a:sym typeface="Open Sans"/>
              </a:defRPr>
            </a:pPr>
            <a:r>
              <a:rPr dirty="0"/>
              <a:t>Interpretation</a:t>
            </a:r>
            <a:r>
              <a:rPr lang="en-GB" dirty="0"/>
              <a:t> – </a:t>
            </a:r>
            <a:r>
              <a:rPr lang="en-GB" dirty="0" smtClean="0"/>
              <a:t>Interpretation of model predictions.</a:t>
            </a:r>
            <a:endParaRPr dirty="0"/>
          </a:p>
        </p:txBody>
      </p:sp>
      <p:sp>
        <p:nvSpPr>
          <p:cNvPr id="11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Data Exploration</a:t>
            </a:r>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p:cNvSpPr txBox="1"/>
          <p:nvPr/>
        </p:nvSpPr>
        <p:spPr>
          <a:xfrm>
            <a:off x="420414" y="1124607"/>
            <a:ext cx="8198069" cy="29854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000" dirty="0" smtClean="0"/>
              <a:t>Solve Data Quality Issues</a:t>
            </a:r>
          </a:p>
          <a:p>
            <a:pPr marL="0" marR="0" indent="0" algn="l" defTabSz="914400" rtl="0" fontAlgn="auto" latinLnBrk="0" hangingPunct="0">
              <a:lnSpc>
                <a:spcPct val="100000"/>
              </a:lnSpc>
              <a:spcBef>
                <a:spcPts val="0"/>
              </a:spcBef>
              <a:spcAft>
                <a:spcPts val="0"/>
              </a:spcAft>
              <a:buClrTx/>
              <a:buSzTx/>
              <a:buFontTx/>
              <a:buNone/>
              <a:tabLst/>
            </a:pPr>
            <a:endParaRPr lang="en-US" dirty="0" smtClean="0"/>
          </a:p>
          <a:p>
            <a:pPr marL="0" marR="0" indent="0" algn="l"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smtClean="0">
                <a:ln>
                  <a:noFill/>
                </a:ln>
                <a:solidFill>
                  <a:srgbClr val="000000"/>
                </a:solidFill>
                <a:effectLst/>
                <a:uFillTx/>
                <a:latin typeface="+mn-lt"/>
                <a:ea typeface="+mn-ea"/>
                <a:cs typeface="+mn-cs"/>
                <a:sym typeface="Arial"/>
              </a:rPr>
              <a:t>The first</a:t>
            </a:r>
            <a:r>
              <a:rPr kumimoji="0" lang="en-US" b="0" i="0" u="none" strike="noStrike" cap="none" spc="0" normalizeH="0" dirty="0" smtClean="0">
                <a:ln>
                  <a:noFill/>
                </a:ln>
                <a:solidFill>
                  <a:srgbClr val="000000"/>
                </a:solidFill>
                <a:effectLst/>
                <a:uFillTx/>
                <a:latin typeface="+mn-lt"/>
                <a:ea typeface="+mn-ea"/>
                <a:cs typeface="+mn-cs"/>
                <a:sym typeface="Arial"/>
              </a:rPr>
              <a:t> task is to find solutions to data quality issues that were discovered during the first module. This</a:t>
            </a:r>
          </a:p>
          <a:p>
            <a:pPr marL="0" marR="0" indent="0" algn="l" defTabSz="914400" rtl="0" fontAlgn="auto" latinLnBrk="0" hangingPunct="0">
              <a:lnSpc>
                <a:spcPct val="100000"/>
              </a:lnSpc>
              <a:spcBef>
                <a:spcPts val="0"/>
              </a:spcBef>
              <a:spcAft>
                <a:spcPts val="0"/>
              </a:spcAft>
              <a:buClrTx/>
              <a:buSzTx/>
              <a:buFontTx/>
              <a:buNone/>
              <a:tabLst/>
            </a:pPr>
            <a:r>
              <a:rPr lang="en-US" dirty="0" smtClean="0"/>
              <a:t>Include but not limited to :</a:t>
            </a:r>
          </a:p>
          <a:p>
            <a:pPr marL="285750" lvl="1" indent="-285750">
              <a:buFont typeface="Arial" panose="020B0604020202020204" pitchFamily="34" charset="0"/>
              <a:buChar char="•"/>
            </a:pPr>
            <a:r>
              <a:rPr kumimoji="0" lang="en-US" b="0" i="0" u="none" strike="noStrike" cap="none" spc="0" normalizeH="0" dirty="0" smtClean="0">
                <a:ln>
                  <a:noFill/>
                </a:ln>
                <a:solidFill>
                  <a:srgbClr val="000000"/>
                </a:solidFill>
                <a:effectLst/>
                <a:uFillTx/>
                <a:latin typeface="+mn-lt"/>
                <a:ea typeface="+mn-ea"/>
                <a:cs typeface="+mn-cs"/>
                <a:sym typeface="Arial"/>
              </a:rPr>
              <a:t>Ensuring Data Consistency i.e. </a:t>
            </a:r>
          </a:p>
          <a:p>
            <a:pPr marL="342900" lvl="8" indent="-342900">
              <a:buFont typeface="+mj-lt"/>
              <a:buAutoNum type="arabicPeriod"/>
            </a:pPr>
            <a:r>
              <a:rPr kumimoji="0" lang="en-US" b="0" i="0" u="none" strike="noStrike" cap="none" spc="0" normalizeH="0" dirty="0" smtClean="0">
                <a:ln>
                  <a:noFill/>
                </a:ln>
                <a:solidFill>
                  <a:srgbClr val="000000"/>
                </a:solidFill>
                <a:effectLst/>
                <a:uFillTx/>
                <a:latin typeface="+mn-lt"/>
                <a:ea typeface="+mn-ea"/>
                <a:cs typeface="+mn-cs"/>
                <a:sym typeface="Arial"/>
              </a:rPr>
              <a:t>convert </a:t>
            </a:r>
            <a:r>
              <a:rPr lang="en-US" dirty="0" smtClean="0"/>
              <a:t>state </a:t>
            </a:r>
            <a:r>
              <a:rPr lang="en-US" dirty="0"/>
              <a:t>column has both full names and abbreviations for the </a:t>
            </a:r>
            <a:r>
              <a:rPr lang="en-US" dirty="0" smtClean="0"/>
              <a:t>states</a:t>
            </a:r>
            <a:r>
              <a:rPr lang="en-US" dirty="0"/>
              <a:t>.</a:t>
            </a:r>
            <a:endParaRPr kumimoji="0" lang="en-US" b="0" i="0" u="none" strike="noStrike" cap="none" spc="0" normalizeH="0" dirty="0" smtClean="0">
              <a:ln>
                <a:noFill/>
              </a:ln>
              <a:solidFill>
                <a:srgbClr val="000000"/>
              </a:solidFill>
              <a:effectLst/>
              <a:uFillTx/>
              <a:latin typeface="+mn-lt"/>
              <a:ea typeface="+mn-ea"/>
              <a:cs typeface="+mn-cs"/>
              <a:sym typeface="Arial"/>
            </a:endParaRPr>
          </a:p>
          <a:p>
            <a:pPr marL="342900" lvl="8" indent="-342900">
              <a:buFont typeface="+mj-lt"/>
              <a:buAutoNum type="arabicPeriod"/>
            </a:pPr>
            <a:r>
              <a:rPr lang="en-US" dirty="0" smtClean="0"/>
              <a:t>Full names were used for gender column</a:t>
            </a:r>
          </a:p>
          <a:p>
            <a:pPr lvl="8"/>
            <a:endParaRPr kumimoji="0" lang="en-US" b="0" i="0" u="none" strike="noStrike" cap="none" spc="0" normalizeH="0" dirty="0">
              <a:ln>
                <a:noFill/>
              </a:ln>
              <a:solidFill>
                <a:srgbClr val="000000"/>
              </a:solidFill>
              <a:effectLst/>
              <a:uFillTx/>
              <a:latin typeface="+mn-lt"/>
              <a:ea typeface="+mn-ea"/>
              <a:cs typeface="+mn-cs"/>
              <a:sym typeface="Arial"/>
            </a:endParaRPr>
          </a:p>
          <a:p>
            <a:pPr marL="285750" lvl="8" indent="-285750">
              <a:buFont typeface="Arial" panose="020B0604020202020204" pitchFamily="34" charset="0"/>
              <a:buChar char="•"/>
            </a:pPr>
            <a:r>
              <a:rPr lang="en-US" dirty="0" smtClean="0"/>
              <a:t>Ensuring Data Validity </a:t>
            </a:r>
            <a:r>
              <a:rPr lang="en-US" dirty="0" smtClean="0"/>
              <a:t>i.e. Row </a:t>
            </a:r>
            <a:r>
              <a:rPr lang="en-US" dirty="0" smtClean="0"/>
              <a:t>containing 1843 as year of birth was dropped.</a:t>
            </a:r>
            <a:endParaRPr kumimoji="0" lang="en-US" b="0" i="0" u="none" strike="noStrike" cap="none" spc="0" normalizeH="0" dirty="0" smtClean="0">
              <a:ln>
                <a:noFill/>
              </a:ln>
              <a:solidFill>
                <a:srgbClr val="000000"/>
              </a:solidFill>
              <a:effectLst/>
              <a:uFillTx/>
              <a:latin typeface="+mn-lt"/>
              <a:ea typeface="+mn-ea"/>
              <a:cs typeface="+mn-cs"/>
              <a:sym typeface="Arial"/>
            </a:endParaRPr>
          </a:p>
          <a:p>
            <a:pPr marL="285750" indent="-285750">
              <a:buFont typeface="Arial" panose="020B0604020202020204" pitchFamily="34" charset="0"/>
              <a:buChar char="•"/>
            </a:pPr>
            <a:r>
              <a:rPr lang="en-US" baseline="0" dirty="0" smtClean="0"/>
              <a:t>Handling duplicates the data has no </a:t>
            </a:r>
            <a:r>
              <a:rPr lang="en-US" baseline="0" dirty="0" smtClean="0"/>
              <a:t>duplicates.</a:t>
            </a:r>
            <a:endParaRPr lang="en-US" baseline="0" dirty="0" smtClean="0"/>
          </a:p>
          <a:p>
            <a:pPr marL="285750" indent="-285750">
              <a:buFont typeface="Arial" panose="020B0604020202020204" pitchFamily="34" charset="0"/>
              <a:buChar char="•"/>
            </a:pPr>
            <a:r>
              <a:rPr kumimoji="0" lang="en-US" b="0" i="0" u="none" strike="noStrike" cap="none" spc="0" normalizeH="0" dirty="0" smtClean="0">
                <a:ln>
                  <a:noFill/>
                </a:ln>
                <a:solidFill>
                  <a:srgbClr val="000000"/>
                </a:solidFill>
                <a:effectLst/>
                <a:uFillTx/>
                <a:latin typeface="+mn-lt"/>
                <a:ea typeface="+mn-ea"/>
                <a:cs typeface="+mn-cs"/>
                <a:sym typeface="Arial"/>
              </a:rPr>
              <a:t>Handling missing data some.</a:t>
            </a:r>
            <a:r>
              <a:rPr lang="en-US" dirty="0"/>
              <a:t> </a:t>
            </a:r>
            <a:r>
              <a:rPr lang="en-US" dirty="0" smtClean="0"/>
              <a:t>Numerical columns were imputed with the mean while categorical columns were imputed with mode of the column.</a:t>
            </a:r>
          </a:p>
          <a:p>
            <a:pPr marL="285750" indent="-285750">
              <a:buFont typeface="Arial" panose="020B0604020202020204" pitchFamily="34" charset="0"/>
              <a:buChar char="•"/>
            </a:pPr>
            <a:r>
              <a:rPr kumimoji="0" lang="en-US" b="0" i="0" u="none" strike="noStrike" cap="none" spc="0" normalizeH="0" dirty="0" smtClean="0">
                <a:ln>
                  <a:noFill/>
                </a:ln>
                <a:solidFill>
                  <a:srgbClr val="000000"/>
                </a:solidFill>
                <a:effectLst/>
                <a:uFillTx/>
                <a:latin typeface="+mn-lt"/>
                <a:ea typeface="+mn-ea"/>
                <a:cs typeface="+mn-cs"/>
                <a:sym typeface="Arial"/>
              </a:rPr>
              <a:t>Columns of little significance to modelling were dropped.</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dirty="0"/>
              <a:t>Data </a:t>
            </a:r>
            <a:r>
              <a:rPr dirty="0" smtClean="0"/>
              <a:t>Exploration</a:t>
            </a:r>
            <a:r>
              <a:rPr lang="en-US" dirty="0" smtClean="0"/>
              <a:t>: Distributions</a:t>
            </a:r>
            <a:endParaRPr dirty="0"/>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graphicFrame>
        <p:nvGraphicFramePr>
          <p:cNvPr id="6" name="Chart 5"/>
          <p:cNvGraphicFramePr>
            <a:graphicFrameLocks/>
          </p:cNvGraphicFramePr>
          <p:nvPr>
            <p:extLst>
              <p:ext uri="{D42A27DB-BD31-4B8C-83A1-F6EECF244321}">
                <p14:modId xmlns:p14="http://schemas.microsoft.com/office/powerpoint/2010/main" val="3528592132"/>
              </p:ext>
            </p:extLst>
          </p:nvPr>
        </p:nvGraphicFramePr>
        <p:xfrm>
          <a:off x="323850" y="852149"/>
          <a:ext cx="3425190" cy="18275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3628854469"/>
              </p:ext>
            </p:extLst>
          </p:nvPr>
        </p:nvGraphicFramePr>
        <p:xfrm>
          <a:off x="224074" y="2827283"/>
          <a:ext cx="3524965" cy="19771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p:cNvGraphicFramePr>
            <a:graphicFrameLocks/>
          </p:cNvGraphicFramePr>
          <p:nvPr>
            <p:extLst>
              <p:ext uri="{D42A27DB-BD31-4B8C-83A1-F6EECF244321}">
                <p14:modId xmlns:p14="http://schemas.microsoft.com/office/powerpoint/2010/main" val="1839665528"/>
              </p:ext>
            </p:extLst>
          </p:nvPr>
        </p:nvGraphicFramePr>
        <p:xfrm>
          <a:off x="4487825" y="852149"/>
          <a:ext cx="3843025" cy="244162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p:cNvGraphicFramePr>
            <a:graphicFrameLocks/>
          </p:cNvGraphicFramePr>
          <p:nvPr>
            <p:extLst>
              <p:ext uri="{D42A27DB-BD31-4B8C-83A1-F6EECF244321}">
                <p14:modId xmlns:p14="http://schemas.microsoft.com/office/powerpoint/2010/main" val="2607085001"/>
              </p:ext>
            </p:extLst>
          </p:nvPr>
        </p:nvGraphicFramePr>
        <p:xfrm>
          <a:off x="4892565" y="3207626"/>
          <a:ext cx="3438285" cy="15967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794552651"/>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Data Exploration</a:t>
            </a:r>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p:cNvSpPr txBox="1"/>
          <p:nvPr/>
        </p:nvSpPr>
        <p:spPr>
          <a:xfrm>
            <a:off x="105874" y="852149"/>
            <a:ext cx="8861344" cy="4031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800" b="1" dirty="0" smtClean="0"/>
              <a:t>Feature Engineering</a:t>
            </a:r>
            <a:r>
              <a:rPr lang="en-US" b="1" dirty="0" smtClean="0"/>
              <a:t>.</a:t>
            </a:r>
            <a:endParaRPr lang="en-US" dirty="0" smtClean="0"/>
          </a:p>
          <a:p>
            <a:pPr marL="0" marR="0" indent="0" algn="l" defTabSz="914400" rtl="0" fontAlgn="auto" latinLnBrk="0" hangingPunct="0">
              <a:lnSpc>
                <a:spcPct val="100000"/>
              </a:lnSpc>
              <a:spcBef>
                <a:spcPts val="0"/>
              </a:spcBef>
              <a:spcAft>
                <a:spcPts val="0"/>
              </a:spcAft>
              <a:buClrTx/>
              <a:buSzTx/>
              <a:buFontTx/>
              <a:buNone/>
              <a:tabLst/>
            </a:pPr>
            <a:r>
              <a:rPr lang="en-US" dirty="0" smtClean="0"/>
              <a:t>Some new features can be generated using existing features.</a:t>
            </a:r>
          </a:p>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lang="en-US" dirty="0" smtClean="0"/>
              <a:t>Generated features include:</a:t>
            </a:r>
          </a:p>
          <a:p>
            <a:pPr marL="285750" lvl="2" indent="-285750">
              <a:buFont typeface="Arial" panose="020B0604020202020204" pitchFamily="34" charset="0"/>
              <a:buChar char="•"/>
            </a:pPr>
            <a:r>
              <a:rPr kumimoji="0" lang="en-US" b="0" i="0" u="none" strike="noStrike" cap="none" spc="0" normalizeH="0" baseline="0" dirty="0" smtClean="0">
                <a:ln>
                  <a:noFill/>
                </a:ln>
                <a:solidFill>
                  <a:srgbClr val="000000"/>
                </a:solidFill>
                <a:effectLst/>
                <a:uFillTx/>
                <a:latin typeface="+mn-lt"/>
                <a:ea typeface="+mn-ea"/>
                <a:cs typeface="+mn-cs"/>
                <a:sym typeface="Arial"/>
              </a:rPr>
              <a:t>age</a:t>
            </a:r>
            <a:r>
              <a:rPr kumimoji="0" lang="en-US" b="0" i="0" u="none" strike="noStrike" cap="none" spc="0" normalizeH="0" dirty="0" smtClean="0">
                <a:ln>
                  <a:noFill/>
                </a:ln>
                <a:solidFill>
                  <a:srgbClr val="000000"/>
                </a:solidFill>
                <a:effectLst/>
                <a:uFillTx/>
                <a:latin typeface="+mn-lt"/>
                <a:ea typeface="+mn-ea"/>
                <a:cs typeface="+mn-cs"/>
                <a:sym typeface="Arial"/>
              </a:rPr>
              <a:t> from DOB</a:t>
            </a:r>
          </a:p>
          <a:p>
            <a:pPr marL="285750" lvl="2" indent="-285750">
              <a:buFont typeface="Arial" panose="020B0604020202020204" pitchFamily="34" charset="0"/>
              <a:buChar char="•"/>
            </a:pPr>
            <a:r>
              <a:rPr lang="en-US" dirty="0"/>
              <a:t>a</a:t>
            </a:r>
            <a:r>
              <a:rPr kumimoji="0" lang="en-US" b="0" i="0" u="none" strike="noStrike" cap="none" spc="0" normalizeH="0" baseline="0" dirty="0" smtClean="0">
                <a:ln>
                  <a:noFill/>
                </a:ln>
                <a:solidFill>
                  <a:srgbClr val="000000"/>
                </a:solidFill>
                <a:effectLst/>
                <a:uFillTx/>
                <a:latin typeface="+mn-lt"/>
                <a:ea typeface="+mn-ea"/>
                <a:cs typeface="+mn-cs"/>
                <a:sym typeface="Arial"/>
              </a:rPr>
              <a:t>ge_group from age</a:t>
            </a:r>
          </a:p>
          <a:p>
            <a:pPr marL="285750" lvl="2" indent="-285750">
              <a:buFont typeface="Arial" panose="020B0604020202020204" pitchFamily="34" charset="0"/>
              <a:buChar char="•"/>
            </a:pPr>
            <a:endParaRPr lang="en-US" dirty="0"/>
          </a:p>
          <a:p>
            <a:pPr lvl="2"/>
            <a:r>
              <a:rPr kumimoji="0" lang="en-US" b="0" i="0" u="none" strike="noStrike" cap="none" spc="0" normalizeH="0" baseline="0" dirty="0" smtClean="0">
                <a:ln>
                  <a:noFill/>
                </a:ln>
                <a:solidFill>
                  <a:srgbClr val="000000"/>
                </a:solidFill>
                <a:effectLst/>
                <a:uFillTx/>
                <a:latin typeface="+mn-lt"/>
                <a:ea typeface="+mn-ea"/>
                <a:cs typeface="+mn-cs"/>
                <a:sym typeface="Arial"/>
              </a:rPr>
              <a:t>Performing </a:t>
            </a:r>
            <a:r>
              <a:rPr lang="en-US" b="1" dirty="0"/>
              <a:t>R</a:t>
            </a:r>
            <a:r>
              <a:rPr kumimoji="0" lang="en-US" b="1" i="0" u="none" strike="noStrike" cap="none" spc="0" normalizeH="0" baseline="0" dirty="0" smtClean="0">
                <a:ln>
                  <a:noFill/>
                </a:ln>
                <a:solidFill>
                  <a:srgbClr val="000000"/>
                </a:solidFill>
                <a:effectLst/>
                <a:uFillTx/>
                <a:sym typeface="Arial"/>
              </a:rPr>
              <a:t>ecency, Frequency &amp; Monetary</a:t>
            </a:r>
            <a:r>
              <a:rPr kumimoji="0" lang="en-US" b="0" i="0" u="none" strike="noStrike" cap="none" spc="0" normalizeH="0" dirty="0" smtClean="0">
                <a:ln>
                  <a:noFill/>
                </a:ln>
                <a:solidFill>
                  <a:srgbClr val="000000"/>
                </a:solidFill>
                <a:effectLst/>
                <a:uFillTx/>
                <a:latin typeface="+mn-lt"/>
                <a:ea typeface="+mn-ea"/>
                <a:cs typeface="+mn-cs"/>
                <a:sym typeface="Arial"/>
              </a:rPr>
              <a:t> Value </a:t>
            </a:r>
            <a:r>
              <a:rPr kumimoji="0" lang="en-US" b="0" i="0" u="none" strike="noStrike" cap="none" spc="0" normalizeH="0" baseline="0" dirty="0" smtClean="0">
                <a:ln>
                  <a:noFill/>
                </a:ln>
                <a:solidFill>
                  <a:srgbClr val="000000"/>
                </a:solidFill>
                <a:effectLst/>
                <a:uFillTx/>
                <a:latin typeface="+mn-lt"/>
                <a:ea typeface="+mn-ea"/>
                <a:cs typeface="+mn-cs"/>
                <a:sym typeface="Arial"/>
              </a:rPr>
              <a:t>(RFM) analysis also enables as create the</a:t>
            </a:r>
            <a:r>
              <a:rPr kumimoji="0" lang="en-US" b="0" i="0" u="none" strike="noStrike" cap="none" spc="0" normalizeH="0" dirty="0" smtClean="0">
                <a:ln>
                  <a:noFill/>
                </a:ln>
                <a:solidFill>
                  <a:srgbClr val="000000"/>
                </a:solidFill>
                <a:effectLst/>
                <a:uFillTx/>
                <a:latin typeface="+mn-lt"/>
                <a:ea typeface="+mn-ea"/>
                <a:cs typeface="+mn-cs"/>
                <a:sym typeface="Arial"/>
              </a:rPr>
              <a:t> target feature which we use for customer segmentation. It includes the following:</a:t>
            </a:r>
          </a:p>
          <a:p>
            <a:pPr marL="342900" lvl="2" indent="-342900">
              <a:buFont typeface="+mj-lt"/>
              <a:buAutoNum type="arabicPeriod"/>
            </a:pPr>
            <a:r>
              <a:rPr lang="en-US" dirty="0" smtClean="0"/>
              <a:t>Calculating Recency. This is number of days since a customer bought a product.</a:t>
            </a:r>
            <a:r>
              <a:rPr kumimoji="0" lang="en-US" b="0" i="0" u="none" strike="noStrike" cap="none" spc="0" normalizeH="0" dirty="0" smtClean="0">
                <a:ln>
                  <a:noFill/>
                </a:ln>
                <a:solidFill>
                  <a:srgbClr val="000000"/>
                </a:solidFill>
                <a:effectLst/>
                <a:uFillTx/>
                <a:latin typeface="+mn-lt"/>
                <a:ea typeface="+mn-ea"/>
                <a:cs typeface="+mn-cs"/>
                <a:sym typeface="Arial"/>
              </a:rPr>
              <a:t> </a:t>
            </a:r>
          </a:p>
          <a:p>
            <a:pPr marL="342900" lvl="2" indent="-342900">
              <a:buFont typeface="+mj-lt"/>
              <a:buAutoNum type="arabicPeriod"/>
            </a:pPr>
            <a:r>
              <a:rPr lang="en-US" dirty="0" smtClean="0"/>
              <a:t>Calculating Frequency. This is the number of orders/transactions a customer has completed.</a:t>
            </a:r>
          </a:p>
          <a:p>
            <a:pPr marL="342900" lvl="2" indent="-342900">
              <a:buFont typeface="+mj-lt"/>
              <a:buAutoNum type="arabicPeriod"/>
            </a:pPr>
            <a:r>
              <a:rPr kumimoji="0" lang="en-US" b="0" i="0" u="none" strike="noStrike" cap="none" spc="0" normalizeH="0" dirty="0" smtClean="0">
                <a:ln>
                  <a:noFill/>
                </a:ln>
                <a:solidFill>
                  <a:srgbClr val="000000"/>
                </a:solidFill>
                <a:effectLst/>
                <a:uFillTx/>
                <a:latin typeface="+mn-lt"/>
                <a:ea typeface="+mn-ea"/>
                <a:cs typeface="+mn-cs"/>
                <a:sym typeface="Arial"/>
              </a:rPr>
              <a:t>Calculating Monetary Value. This is the total profit/sale in terms of money linked to individual customer.</a:t>
            </a:r>
          </a:p>
          <a:p>
            <a:pPr marL="342900" lvl="2" indent="-342900">
              <a:buFont typeface="+mj-lt"/>
              <a:buAutoNum type="arabicPeriod"/>
            </a:pPr>
            <a:r>
              <a:rPr lang="en-US" dirty="0" smtClean="0"/>
              <a:t>Calculating RMF score. This is calculated using a known formula.</a:t>
            </a:r>
          </a:p>
          <a:p>
            <a:pPr marL="342900" lvl="2" indent="-342900">
              <a:buFont typeface="+mj-lt"/>
              <a:buAutoNum type="arabicPeriod"/>
            </a:pPr>
            <a:r>
              <a:rPr kumimoji="0" lang="en-US" b="0" i="0" u="none" strike="noStrike" cap="none" spc="0" normalizeH="0" dirty="0" smtClean="0">
                <a:ln>
                  <a:noFill/>
                </a:ln>
                <a:solidFill>
                  <a:srgbClr val="000000"/>
                </a:solidFill>
                <a:effectLst/>
                <a:uFillTx/>
                <a:latin typeface="+mn-lt"/>
                <a:ea typeface="+mn-ea"/>
                <a:cs typeface="+mn-cs"/>
                <a:sym typeface="Arial"/>
              </a:rPr>
              <a:t>Creating Customer Segmentation. This is created using the RMF score. It includes </a:t>
            </a:r>
            <a:r>
              <a:rPr kumimoji="0" lang="en-US" b="1" i="1" u="none" strike="noStrike" cap="none" spc="0" normalizeH="0" dirty="0" smtClean="0">
                <a:ln>
                  <a:noFill/>
                </a:ln>
                <a:solidFill>
                  <a:srgbClr val="000000"/>
                </a:solidFill>
                <a:effectLst/>
                <a:uFillTx/>
                <a:latin typeface="+mn-lt"/>
                <a:ea typeface="+mn-ea"/>
                <a:cs typeface="+mn-cs"/>
                <a:sym typeface="Arial"/>
              </a:rPr>
              <a:t>Top Customer</a:t>
            </a:r>
            <a:r>
              <a:rPr kumimoji="0" lang="en-US" b="0" i="0" u="none" strike="noStrike" cap="none" spc="0" normalizeH="0" dirty="0" smtClean="0">
                <a:ln>
                  <a:noFill/>
                </a:ln>
                <a:solidFill>
                  <a:srgbClr val="000000"/>
                </a:solidFill>
                <a:effectLst/>
                <a:uFillTx/>
                <a:latin typeface="+mn-lt"/>
                <a:ea typeface="+mn-ea"/>
                <a:cs typeface="+mn-cs"/>
                <a:sym typeface="Arial"/>
              </a:rPr>
              <a:t>, </a:t>
            </a:r>
            <a:r>
              <a:rPr kumimoji="0" lang="en-US" b="1" i="1" u="none" strike="noStrike" cap="none" spc="0" normalizeH="0" dirty="0" smtClean="0">
                <a:ln>
                  <a:noFill/>
                </a:ln>
                <a:solidFill>
                  <a:srgbClr val="000000"/>
                </a:solidFill>
                <a:effectLst/>
                <a:uFillTx/>
                <a:latin typeface="+mn-lt"/>
                <a:ea typeface="+mn-ea"/>
                <a:cs typeface="+mn-cs"/>
                <a:sym typeface="Arial"/>
              </a:rPr>
              <a:t>High Value Customer</a:t>
            </a:r>
            <a:r>
              <a:rPr kumimoji="0" lang="en-US" b="0" i="0" u="none" strike="noStrike" cap="none" spc="0" normalizeH="0" dirty="0" smtClean="0">
                <a:ln>
                  <a:noFill/>
                </a:ln>
                <a:solidFill>
                  <a:srgbClr val="000000"/>
                </a:solidFill>
                <a:effectLst/>
                <a:uFillTx/>
                <a:latin typeface="+mn-lt"/>
                <a:ea typeface="+mn-ea"/>
                <a:cs typeface="+mn-cs"/>
                <a:sym typeface="Arial"/>
              </a:rPr>
              <a:t>, </a:t>
            </a:r>
            <a:r>
              <a:rPr kumimoji="0" lang="en-US" b="1" i="1" u="none" strike="noStrike" cap="none" spc="0" normalizeH="0" dirty="0" smtClean="0">
                <a:ln>
                  <a:noFill/>
                </a:ln>
                <a:solidFill>
                  <a:srgbClr val="000000"/>
                </a:solidFill>
                <a:effectLst/>
                <a:uFillTx/>
                <a:latin typeface="+mn-lt"/>
                <a:ea typeface="+mn-ea"/>
                <a:cs typeface="+mn-cs"/>
                <a:sym typeface="Arial"/>
              </a:rPr>
              <a:t>Medium Value Customer</a:t>
            </a:r>
            <a:r>
              <a:rPr kumimoji="0" lang="en-US" b="0" i="0" u="none" strike="noStrike" cap="none" spc="0" normalizeH="0" dirty="0" smtClean="0">
                <a:ln>
                  <a:noFill/>
                </a:ln>
                <a:solidFill>
                  <a:srgbClr val="000000"/>
                </a:solidFill>
                <a:effectLst/>
                <a:uFillTx/>
                <a:latin typeface="+mn-lt"/>
                <a:ea typeface="+mn-ea"/>
                <a:cs typeface="+mn-cs"/>
                <a:sym typeface="Arial"/>
              </a:rPr>
              <a:t>, </a:t>
            </a:r>
            <a:r>
              <a:rPr kumimoji="0" lang="en-US" b="1" i="1" u="none" strike="noStrike" cap="none" spc="0" normalizeH="0" dirty="0" smtClean="0">
                <a:ln>
                  <a:noFill/>
                </a:ln>
                <a:solidFill>
                  <a:srgbClr val="000000"/>
                </a:solidFill>
                <a:effectLst/>
                <a:uFillTx/>
                <a:latin typeface="+mn-lt"/>
                <a:ea typeface="+mn-ea"/>
                <a:cs typeface="+mn-cs"/>
                <a:sym typeface="Arial"/>
              </a:rPr>
              <a:t>Low Level Customer </a:t>
            </a:r>
            <a:r>
              <a:rPr kumimoji="0" lang="en-US" b="0" i="0" u="none" strike="noStrike" cap="none" spc="0" normalizeH="0" dirty="0" smtClean="0">
                <a:ln>
                  <a:noFill/>
                </a:ln>
                <a:solidFill>
                  <a:srgbClr val="000000"/>
                </a:solidFill>
                <a:effectLst/>
                <a:uFillTx/>
                <a:latin typeface="+mn-lt"/>
                <a:ea typeface="+mn-ea"/>
                <a:cs typeface="+mn-cs"/>
                <a:sym typeface="Arial"/>
              </a:rPr>
              <a:t>and </a:t>
            </a:r>
            <a:r>
              <a:rPr kumimoji="0" lang="en-US" b="1" i="1" u="none" strike="noStrike" cap="none" spc="0" normalizeH="0" dirty="0" smtClean="0">
                <a:ln>
                  <a:noFill/>
                </a:ln>
                <a:solidFill>
                  <a:srgbClr val="000000"/>
                </a:solidFill>
                <a:effectLst/>
                <a:uFillTx/>
                <a:latin typeface="+mn-lt"/>
                <a:ea typeface="+mn-ea"/>
                <a:cs typeface="+mn-cs"/>
                <a:sym typeface="Arial"/>
              </a:rPr>
              <a:t>Lost Customer</a:t>
            </a:r>
            <a:r>
              <a:rPr kumimoji="0" lang="en-US" b="0" i="0" u="none" strike="noStrike" cap="none" spc="0" normalizeH="0" dirty="0" smtClean="0">
                <a:ln>
                  <a:noFill/>
                </a:ln>
                <a:solidFill>
                  <a:srgbClr val="000000"/>
                </a:solidFill>
                <a:effectLst/>
                <a:uFillTx/>
                <a:latin typeface="+mn-lt"/>
                <a:ea typeface="+mn-ea"/>
                <a:cs typeface="+mn-cs"/>
                <a:sym typeface="Arial"/>
              </a:rPr>
              <a:t>.</a:t>
            </a:r>
          </a:p>
          <a:p>
            <a:pPr marL="342900" lvl="2" indent="-342900">
              <a:buFont typeface="+mj-lt"/>
              <a:buAutoNum type="arabicPeriod"/>
            </a:pPr>
            <a:r>
              <a:rPr lang="en-US" dirty="0" smtClean="0"/>
              <a:t>Create Target. The last step is deciding which customer category is important to us. For this task we will take Top Customer and High Value Customer as the target we will create a column with this values encoded </a:t>
            </a:r>
            <a:r>
              <a:rPr lang="en-US" b="1" dirty="0" smtClean="0"/>
              <a:t>1</a:t>
            </a:r>
            <a:r>
              <a:rPr lang="en-US" dirty="0" smtClean="0"/>
              <a:t> and the other segments encoded to </a:t>
            </a:r>
            <a:r>
              <a:rPr lang="en-US" b="1" dirty="0" smtClean="0"/>
              <a:t>0</a:t>
            </a:r>
            <a:r>
              <a:rPr lang="en-US" dirty="0"/>
              <a:t>.</a:t>
            </a:r>
            <a:endParaRPr kumimoji="0" lang="en-US" b="0" i="0" u="none" strike="noStrike" cap="none" spc="0" normalizeH="0" dirty="0" smtClean="0">
              <a:ln>
                <a:noFill/>
              </a:ln>
              <a:solidFill>
                <a:srgbClr val="000000"/>
              </a:solidFill>
              <a:effectLst/>
              <a:uFillTx/>
              <a:latin typeface="+mn-lt"/>
              <a:ea typeface="+mn-ea"/>
              <a:cs typeface="+mn-cs"/>
              <a:sym typeface="Arial"/>
            </a:endParaRPr>
          </a:p>
        </p:txBody>
      </p:sp>
    </p:spTree>
    <p:extLst>
      <p:ext uri="{BB962C8B-B14F-4D97-AF65-F5344CB8AC3E}">
        <p14:creationId xmlns:p14="http://schemas.microsoft.com/office/powerpoint/2010/main" val="1712209532"/>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Data Exploration</a:t>
            </a:r>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graphicFrame>
        <p:nvGraphicFramePr>
          <p:cNvPr id="7" name="Chart 6"/>
          <p:cNvGraphicFramePr>
            <a:graphicFrameLocks/>
          </p:cNvGraphicFramePr>
          <p:nvPr>
            <p:extLst>
              <p:ext uri="{D42A27DB-BD31-4B8C-83A1-F6EECF244321}">
                <p14:modId xmlns:p14="http://schemas.microsoft.com/office/powerpoint/2010/main" val="874329596"/>
              </p:ext>
            </p:extLst>
          </p:nvPr>
        </p:nvGraphicFramePr>
        <p:xfrm>
          <a:off x="111120" y="1212194"/>
          <a:ext cx="4177101" cy="35910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4133829453"/>
              </p:ext>
            </p:extLst>
          </p:nvPr>
        </p:nvGraphicFramePr>
        <p:xfrm>
          <a:off x="4929351" y="1212194"/>
          <a:ext cx="3720662" cy="35910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65453678"/>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Model Development</a:t>
            </a:r>
          </a:p>
        </p:txBody>
      </p:sp>
      <p:sp>
        <p:nvSpPr>
          <p:cNvPr id="146"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p:cNvSpPr txBox="1"/>
          <p:nvPr/>
        </p:nvSpPr>
        <p:spPr>
          <a:xfrm>
            <a:off x="98323" y="1832207"/>
            <a:ext cx="8858864" cy="2215991"/>
          </a:xfrm>
          <a:prstGeom prst="rect">
            <a:avLst/>
          </a:prstGeom>
          <a:noFill/>
        </p:spPr>
        <p:txBody>
          <a:bodyPr wrap="square" rtlCol="0">
            <a:spAutoFit/>
          </a:bodyPr>
          <a:lstStyle/>
          <a:p>
            <a:r>
              <a:rPr lang="en-US" sz="1800" b="1" dirty="0" smtClean="0"/>
              <a:t>Model</a:t>
            </a:r>
          </a:p>
          <a:p>
            <a:r>
              <a:rPr lang="en-US" dirty="0" smtClean="0"/>
              <a:t>The model chosen for this is </a:t>
            </a:r>
            <a:r>
              <a:rPr lang="en-US" b="1" dirty="0" smtClean="0"/>
              <a:t>LGBM Classifier</a:t>
            </a:r>
            <a:r>
              <a:rPr lang="en-US" dirty="0" smtClean="0"/>
              <a:t> since this is a classification problem where we have two classes.</a:t>
            </a:r>
          </a:p>
          <a:p>
            <a:endParaRPr lang="en-US" dirty="0"/>
          </a:p>
          <a:p>
            <a:r>
              <a:rPr lang="en-US" sz="1800" b="1" dirty="0" smtClean="0"/>
              <a:t>Preprocessing</a:t>
            </a:r>
          </a:p>
          <a:p>
            <a:r>
              <a:rPr lang="en-US" dirty="0" smtClean="0"/>
              <a:t>Since we have a class imbalance i.e. the negative class (0) has more data points that the positive class. We have to resample our data so as to remove bias the model might have during predictions. The method of resampling chosen was over </a:t>
            </a:r>
            <a:r>
              <a:rPr lang="en-US" dirty="0"/>
              <a:t>s</a:t>
            </a:r>
            <a:r>
              <a:rPr lang="en-US" dirty="0" smtClean="0"/>
              <a:t>ampling, where data points are randomly chosen from the  minority class and re-added to the data until we have a balanced count between the two classes.</a:t>
            </a:r>
            <a:endParaRPr lang="en-US" sz="1800" b="1" dirty="0" smtClean="0"/>
          </a:p>
          <a:p>
            <a:endParaRPr lang="en-US" sz="1800" b="1" dirty="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US" dirty="0" smtClean="0"/>
              <a:t>Model Development</a:t>
            </a:r>
            <a:endParaRPr dirty="0"/>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p:cNvSpPr txBox="1"/>
          <p:nvPr/>
        </p:nvSpPr>
        <p:spPr>
          <a:xfrm>
            <a:off x="84377" y="3358467"/>
            <a:ext cx="8806895" cy="1600438"/>
          </a:xfrm>
          <a:prstGeom prst="rect">
            <a:avLst/>
          </a:prstGeom>
          <a:noFill/>
        </p:spPr>
        <p:txBody>
          <a:bodyPr wrap="square" rtlCol="0">
            <a:spAutoFit/>
          </a:bodyPr>
          <a:lstStyle/>
          <a:p>
            <a:r>
              <a:rPr lang="en-US" dirty="0" smtClean="0"/>
              <a:t>Our model performs well on the test data with an accuracy of ~</a:t>
            </a:r>
            <a:r>
              <a:rPr lang="en-US" b="1" dirty="0" smtClean="0"/>
              <a:t>95%</a:t>
            </a:r>
            <a:r>
              <a:rPr lang="en-US" dirty="0" smtClean="0"/>
              <a:t>.</a:t>
            </a:r>
          </a:p>
          <a:p>
            <a:endParaRPr lang="en-US" dirty="0" smtClean="0"/>
          </a:p>
          <a:p>
            <a:r>
              <a:rPr lang="en-US" dirty="0" smtClean="0"/>
              <a:t>From precision, the instances the </a:t>
            </a:r>
            <a:r>
              <a:rPr lang="en-US" dirty="0"/>
              <a:t>model classified as </a:t>
            </a:r>
            <a:r>
              <a:rPr lang="en-US" b="1" dirty="0"/>
              <a:t>class 0</a:t>
            </a:r>
            <a:r>
              <a:rPr lang="en-US" dirty="0"/>
              <a:t>, approximately </a:t>
            </a:r>
            <a:r>
              <a:rPr lang="en-US" b="1" dirty="0" smtClean="0"/>
              <a:t>99%</a:t>
            </a:r>
            <a:r>
              <a:rPr lang="en-US" dirty="0" smtClean="0"/>
              <a:t> </a:t>
            </a:r>
            <a:r>
              <a:rPr lang="en-US" dirty="0"/>
              <a:t>of them are truly </a:t>
            </a:r>
            <a:r>
              <a:rPr lang="en-US" b="1" dirty="0"/>
              <a:t>class 0</a:t>
            </a:r>
            <a:r>
              <a:rPr lang="en-US" dirty="0"/>
              <a:t>. </a:t>
            </a:r>
            <a:r>
              <a:rPr lang="en-US" dirty="0" smtClean="0"/>
              <a:t>Also the for the instances model </a:t>
            </a:r>
            <a:r>
              <a:rPr lang="en-US" dirty="0"/>
              <a:t>classified as </a:t>
            </a:r>
            <a:r>
              <a:rPr lang="en-US" b="1" dirty="0"/>
              <a:t>class 1</a:t>
            </a:r>
            <a:r>
              <a:rPr lang="en-US" dirty="0"/>
              <a:t>, around </a:t>
            </a:r>
            <a:r>
              <a:rPr lang="en-US" b="1" dirty="0" smtClean="0"/>
              <a:t>91%</a:t>
            </a:r>
            <a:r>
              <a:rPr lang="en-US" dirty="0" smtClean="0"/>
              <a:t> </a:t>
            </a:r>
            <a:r>
              <a:rPr lang="en-US" dirty="0"/>
              <a:t>of them are indeed </a:t>
            </a:r>
            <a:r>
              <a:rPr lang="en-US" b="1" dirty="0"/>
              <a:t>class 1</a:t>
            </a:r>
            <a:r>
              <a:rPr lang="en-US" dirty="0"/>
              <a:t>.</a:t>
            </a:r>
            <a:endParaRPr lang="en-US" dirty="0" smtClean="0"/>
          </a:p>
          <a:p>
            <a:endParaRPr lang="en-US" dirty="0" smtClean="0"/>
          </a:p>
          <a:p>
            <a:r>
              <a:rPr lang="en-US" dirty="0" smtClean="0"/>
              <a:t>From recall, </a:t>
            </a:r>
            <a:r>
              <a:rPr lang="en-US" dirty="0"/>
              <a:t>when there are instances that are truly </a:t>
            </a:r>
            <a:r>
              <a:rPr lang="en-US" b="1" dirty="0"/>
              <a:t>class 0</a:t>
            </a:r>
            <a:r>
              <a:rPr lang="en-US" dirty="0"/>
              <a:t>, the model identifies approximately </a:t>
            </a:r>
            <a:r>
              <a:rPr lang="en-US" b="1" dirty="0" smtClean="0"/>
              <a:t>91%</a:t>
            </a:r>
            <a:r>
              <a:rPr lang="en-US" dirty="0" smtClean="0"/>
              <a:t> </a:t>
            </a:r>
            <a:r>
              <a:rPr lang="en-US" dirty="0"/>
              <a:t>of them</a:t>
            </a:r>
            <a:r>
              <a:rPr lang="en-US" dirty="0" smtClean="0"/>
              <a:t>. </a:t>
            </a:r>
            <a:r>
              <a:rPr lang="en-US" dirty="0"/>
              <a:t>A</a:t>
            </a:r>
            <a:r>
              <a:rPr lang="en-US" dirty="0" smtClean="0"/>
              <a:t>lso </a:t>
            </a:r>
            <a:r>
              <a:rPr lang="en-US" dirty="0"/>
              <a:t>w</a:t>
            </a:r>
            <a:r>
              <a:rPr lang="en-US" dirty="0" smtClean="0"/>
              <a:t>hen </a:t>
            </a:r>
            <a:r>
              <a:rPr lang="en-US" dirty="0"/>
              <a:t>there are instances that are truly </a:t>
            </a:r>
            <a:r>
              <a:rPr lang="en-US" b="1" dirty="0"/>
              <a:t>class 1</a:t>
            </a:r>
            <a:r>
              <a:rPr lang="en-US" dirty="0"/>
              <a:t>, the model identifies approximately </a:t>
            </a:r>
            <a:r>
              <a:rPr lang="en-US" b="1" dirty="0" smtClean="0"/>
              <a:t>99%</a:t>
            </a:r>
            <a:r>
              <a:rPr lang="en-US" dirty="0" smtClean="0"/>
              <a:t> </a:t>
            </a:r>
            <a:r>
              <a:rPr lang="en-US" dirty="0"/>
              <a:t>of them.</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23067408"/>
              </p:ext>
            </p:extLst>
          </p:nvPr>
        </p:nvGraphicFramePr>
        <p:xfrm>
          <a:off x="455092" y="1986933"/>
          <a:ext cx="3949700" cy="952500"/>
        </p:xfrm>
        <a:graphic>
          <a:graphicData uri="http://schemas.openxmlformats.org/drawingml/2006/table">
            <a:tbl>
              <a:tblPr/>
              <a:tblGrid>
                <a:gridCol w="609600">
                  <a:extLst>
                    <a:ext uri="{9D8B030D-6E8A-4147-A177-3AD203B41FA5}">
                      <a16:colId xmlns:a16="http://schemas.microsoft.com/office/drawing/2014/main" val="3597003554"/>
                    </a:ext>
                  </a:extLst>
                </a:gridCol>
                <a:gridCol w="609600">
                  <a:extLst>
                    <a:ext uri="{9D8B030D-6E8A-4147-A177-3AD203B41FA5}">
                      <a16:colId xmlns:a16="http://schemas.microsoft.com/office/drawing/2014/main" val="2425604978"/>
                    </a:ext>
                  </a:extLst>
                </a:gridCol>
                <a:gridCol w="609600">
                  <a:extLst>
                    <a:ext uri="{9D8B030D-6E8A-4147-A177-3AD203B41FA5}">
                      <a16:colId xmlns:a16="http://schemas.microsoft.com/office/drawing/2014/main" val="1318823246"/>
                    </a:ext>
                  </a:extLst>
                </a:gridCol>
                <a:gridCol w="609600">
                  <a:extLst>
                    <a:ext uri="{9D8B030D-6E8A-4147-A177-3AD203B41FA5}">
                      <a16:colId xmlns:a16="http://schemas.microsoft.com/office/drawing/2014/main" val="3623186939"/>
                    </a:ext>
                  </a:extLst>
                </a:gridCol>
                <a:gridCol w="660400">
                  <a:extLst>
                    <a:ext uri="{9D8B030D-6E8A-4147-A177-3AD203B41FA5}">
                      <a16:colId xmlns:a16="http://schemas.microsoft.com/office/drawing/2014/main" val="2281368854"/>
                    </a:ext>
                  </a:extLst>
                </a:gridCol>
                <a:gridCol w="850900">
                  <a:extLst>
                    <a:ext uri="{9D8B030D-6E8A-4147-A177-3AD203B41FA5}">
                      <a16:colId xmlns:a16="http://schemas.microsoft.com/office/drawing/2014/main" val="950597798"/>
                    </a:ext>
                  </a:extLst>
                </a:gridCol>
              </a:tblGrid>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US" sz="1100" b="1"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US" sz="1100" b="1" i="0" u="none" strike="noStrike" dirty="0">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accuracy</a:t>
                      </a:r>
                    </a:p>
                  </a:txBody>
                  <a:tcPr marL="9525" marR="9525" marT="9525" marB="0" anchor="b">
                    <a:lnL>
                      <a:noFill/>
                    </a:lnL>
                    <a:lnR>
                      <a:noFill/>
                    </a:lnR>
                    <a:lnT>
                      <a:noFill/>
                    </a:lnT>
                    <a:lnB>
                      <a:noFill/>
                    </a:lnB>
                  </a:tcPr>
                </a:tc>
                <a:tc>
                  <a:txBody>
                    <a:bodyPr/>
                    <a:lstStyle/>
                    <a:p>
                      <a:pPr algn="l" fontAlgn="b"/>
                      <a:r>
                        <a:rPr lang="en-US" sz="1100" b="0" i="0" u="none" strike="noStrike" dirty="0">
                          <a:solidFill>
                            <a:srgbClr val="000000"/>
                          </a:solidFill>
                          <a:effectLst/>
                          <a:latin typeface="Calibri" panose="020F0502020204030204" pitchFamily="34" charset="0"/>
                        </a:rPr>
                        <a:t>macro </a:t>
                      </a:r>
                      <a:r>
                        <a:rPr lang="en-US" sz="1100" b="0" i="0" u="none" strike="noStrike" dirty="0" err="1" smtClean="0">
                          <a:solidFill>
                            <a:srgbClr val="000000"/>
                          </a:solidFill>
                          <a:effectLst/>
                          <a:latin typeface="Calibri" panose="020F0502020204030204" pitchFamily="34" charset="0"/>
                        </a:rPr>
                        <a:t>avg</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weighted avg</a:t>
                      </a:r>
                    </a:p>
                  </a:txBody>
                  <a:tcPr marL="9525" marR="9525" marT="9525" marB="0" anchor="b">
                    <a:lnL>
                      <a:noFill/>
                    </a:lnL>
                    <a:lnR>
                      <a:noFill/>
                    </a:lnR>
                    <a:lnT>
                      <a:noFill/>
                    </a:lnT>
                    <a:lnB>
                      <a:noFill/>
                    </a:lnB>
                  </a:tcPr>
                </a:tc>
                <a:extLst>
                  <a:ext uri="{0D108BD9-81ED-4DB2-BD59-A6C34878D82A}">
                    <a16:rowId xmlns:a16="http://schemas.microsoft.com/office/drawing/2014/main" val="1773068261"/>
                  </a:ext>
                </a:extLst>
              </a:tr>
              <a:tr h="190500">
                <a:tc>
                  <a:txBody>
                    <a:bodyPr/>
                    <a:lstStyle/>
                    <a:p>
                      <a:pPr algn="l" fontAlgn="b"/>
                      <a:r>
                        <a:rPr lang="en-US" sz="1100" b="1" i="0" u="none" strike="noStrike" dirty="0">
                          <a:solidFill>
                            <a:srgbClr val="000000"/>
                          </a:solidFill>
                          <a:effectLst/>
                          <a:latin typeface="Calibri" panose="020F0502020204030204" pitchFamily="34" charset="0"/>
                        </a:rPr>
                        <a:t>precision</a:t>
                      </a:r>
                    </a:p>
                  </a:txBody>
                  <a:tcPr marL="9525" marR="9525" marT="9525" marB="0" anchor="b">
                    <a:lnL>
                      <a:noFill/>
                    </a:lnL>
                    <a:lnR>
                      <a:noFill/>
                    </a:lnR>
                    <a:lnT>
                      <a:noFill/>
                    </a:lnT>
                    <a:lnB>
                      <a:noFill/>
                    </a:lnB>
                  </a:tcPr>
                </a:tc>
                <a:tc>
                  <a:txBody>
                    <a:bodyPr/>
                    <a:lstStyle/>
                    <a:p>
                      <a:pPr algn="r" fontAlgn="b"/>
                      <a:r>
                        <a:rPr lang="en-US" sz="1100" b="1" i="0" u="none" strike="noStrike">
                          <a:solidFill>
                            <a:srgbClr val="000000"/>
                          </a:solidFill>
                          <a:effectLst/>
                          <a:latin typeface="Calibri" panose="020F0502020204030204" pitchFamily="34" charset="0"/>
                        </a:rPr>
                        <a:t>0.996485</a:t>
                      </a:r>
                    </a:p>
                  </a:txBody>
                  <a:tcPr marL="9525" marR="9525" marT="9525" marB="0" anchor="b">
                    <a:lnL>
                      <a:noFill/>
                    </a:lnL>
                    <a:lnR>
                      <a:noFill/>
                    </a:lnR>
                    <a:lnT>
                      <a:noFill/>
                    </a:lnT>
                    <a:lnB>
                      <a:noFill/>
                    </a:lnB>
                  </a:tcPr>
                </a:tc>
                <a:tc>
                  <a:txBody>
                    <a:bodyPr/>
                    <a:lstStyle/>
                    <a:p>
                      <a:pPr algn="r" fontAlgn="b"/>
                      <a:r>
                        <a:rPr lang="en-US" sz="1100" b="1" i="0" u="none" strike="noStrike">
                          <a:solidFill>
                            <a:srgbClr val="000000"/>
                          </a:solidFill>
                          <a:effectLst/>
                          <a:latin typeface="Calibri" panose="020F0502020204030204" pitchFamily="34" charset="0"/>
                        </a:rPr>
                        <a:t>0.911811</a:t>
                      </a:r>
                    </a:p>
                  </a:txBody>
                  <a:tcPr marL="9525" marR="9525" marT="9525" marB="0" anchor="b">
                    <a:lnL>
                      <a:noFill/>
                    </a:lnL>
                    <a:lnR>
                      <a:noFill/>
                    </a:lnR>
                    <a:lnT>
                      <a:noFill/>
                    </a:lnT>
                    <a:lnB>
                      <a:noFill/>
                    </a:lnB>
                  </a:tcPr>
                </a:tc>
                <a:tc>
                  <a:txBody>
                    <a:bodyPr/>
                    <a:lstStyle/>
                    <a:p>
                      <a:pPr algn="r" fontAlgn="b"/>
                      <a:r>
                        <a:rPr lang="en-US" sz="1100" b="1" i="0" u="none" strike="noStrike" dirty="0">
                          <a:solidFill>
                            <a:srgbClr val="000000"/>
                          </a:solidFill>
                          <a:effectLst/>
                          <a:latin typeface="Calibri" panose="020F0502020204030204" pitchFamily="34" charset="0"/>
                        </a:rPr>
                        <a:t>0.951827</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0.954148</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0.955624915</a:t>
                      </a:r>
                    </a:p>
                  </a:txBody>
                  <a:tcPr marL="9525" marR="9525" marT="9525" marB="0" anchor="b">
                    <a:lnL>
                      <a:noFill/>
                    </a:lnL>
                    <a:lnR>
                      <a:noFill/>
                    </a:lnR>
                    <a:lnT>
                      <a:noFill/>
                    </a:lnT>
                    <a:lnB>
                      <a:noFill/>
                    </a:lnB>
                  </a:tcPr>
                </a:tc>
                <a:extLst>
                  <a:ext uri="{0D108BD9-81ED-4DB2-BD59-A6C34878D82A}">
                    <a16:rowId xmlns:a16="http://schemas.microsoft.com/office/drawing/2014/main" val="2698210402"/>
                  </a:ext>
                </a:extLst>
              </a:tr>
              <a:tr h="190500">
                <a:tc>
                  <a:txBody>
                    <a:bodyPr/>
                    <a:lstStyle/>
                    <a:p>
                      <a:pPr algn="l" fontAlgn="b"/>
                      <a:r>
                        <a:rPr lang="en-US" sz="1100" b="1" i="0" u="none" strike="noStrike" dirty="0">
                          <a:solidFill>
                            <a:srgbClr val="000000"/>
                          </a:solidFill>
                          <a:effectLst/>
                          <a:latin typeface="Calibri" panose="020F0502020204030204" pitchFamily="34" charset="0"/>
                        </a:rPr>
                        <a:t>recall</a:t>
                      </a:r>
                    </a:p>
                  </a:txBody>
                  <a:tcPr marL="9525" marR="9525" marT="9525" marB="0" anchor="b">
                    <a:lnL>
                      <a:noFill/>
                    </a:lnL>
                    <a:lnR>
                      <a:noFill/>
                    </a:lnR>
                    <a:lnT>
                      <a:noFill/>
                    </a:lnT>
                    <a:lnB>
                      <a:noFill/>
                    </a:lnB>
                  </a:tcPr>
                </a:tc>
                <a:tc>
                  <a:txBody>
                    <a:bodyPr/>
                    <a:lstStyle/>
                    <a:p>
                      <a:pPr algn="r" fontAlgn="b"/>
                      <a:r>
                        <a:rPr lang="en-US" sz="1100" b="1" i="0" u="none" strike="noStrike" dirty="0">
                          <a:solidFill>
                            <a:srgbClr val="000000"/>
                          </a:solidFill>
                          <a:effectLst/>
                          <a:latin typeface="Calibri" panose="020F0502020204030204" pitchFamily="34" charset="0"/>
                        </a:rPr>
                        <a:t>0.910112</a:t>
                      </a:r>
                    </a:p>
                  </a:txBody>
                  <a:tcPr marL="9525" marR="9525" marT="9525" marB="0" anchor="b">
                    <a:lnL>
                      <a:noFill/>
                    </a:lnL>
                    <a:lnR>
                      <a:noFill/>
                    </a:lnR>
                    <a:lnT>
                      <a:noFill/>
                    </a:lnT>
                    <a:lnB>
                      <a:noFill/>
                    </a:lnB>
                  </a:tcPr>
                </a:tc>
                <a:tc>
                  <a:txBody>
                    <a:bodyPr/>
                    <a:lstStyle/>
                    <a:p>
                      <a:pPr algn="r" fontAlgn="b"/>
                      <a:r>
                        <a:rPr lang="en-US" sz="1100" b="1" i="0" u="none" strike="noStrike">
                          <a:solidFill>
                            <a:srgbClr val="000000"/>
                          </a:solidFill>
                          <a:effectLst/>
                          <a:latin typeface="Calibri" panose="020F0502020204030204" pitchFamily="34" charset="0"/>
                        </a:rPr>
                        <a:t>0.996558</a:t>
                      </a:r>
                    </a:p>
                  </a:txBody>
                  <a:tcPr marL="9525" marR="9525" marT="9525" marB="0" anchor="b">
                    <a:lnL>
                      <a:noFill/>
                    </a:lnL>
                    <a:lnR>
                      <a:noFill/>
                    </a:lnR>
                    <a:lnT>
                      <a:noFill/>
                    </a:lnT>
                    <a:lnB>
                      <a:noFill/>
                    </a:lnB>
                  </a:tcPr>
                </a:tc>
                <a:tc>
                  <a:txBody>
                    <a:bodyPr/>
                    <a:lstStyle/>
                    <a:p>
                      <a:pPr algn="r" fontAlgn="b"/>
                      <a:r>
                        <a:rPr lang="en-US" sz="1100" b="1" i="0" u="none" strike="noStrike">
                          <a:solidFill>
                            <a:srgbClr val="000000"/>
                          </a:solidFill>
                          <a:effectLst/>
                          <a:latin typeface="Calibri" panose="020F0502020204030204" pitchFamily="34" charset="0"/>
                        </a:rPr>
                        <a:t>0.951827</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0.953335</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0.951827243</a:t>
                      </a:r>
                    </a:p>
                  </a:txBody>
                  <a:tcPr marL="9525" marR="9525" marT="9525" marB="0" anchor="b">
                    <a:lnL>
                      <a:noFill/>
                    </a:lnL>
                    <a:lnR>
                      <a:noFill/>
                    </a:lnR>
                    <a:lnT>
                      <a:noFill/>
                    </a:lnT>
                    <a:lnB>
                      <a:noFill/>
                    </a:lnB>
                  </a:tcPr>
                </a:tc>
                <a:extLst>
                  <a:ext uri="{0D108BD9-81ED-4DB2-BD59-A6C34878D82A}">
                    <a16:rowId xmlns:a16="http://schemas.microsoft.com/office/drawing/2014/main" val="1476031296"/>
                  </a:ext>
                </a:extLst>
              </a:tr>
              <a:tr h="190500">
                <a:tc>
                  <a:txBody>
                    <a:bodyPr/>
                    <a:lstStyle/>
                    <a:p>
                      <a:pPr algn="l" fontAlgn="b"/>
                      <a:r>
                        <a:rPr lang="en-US" sz="1100" b="1" i="0" u="none" strike="noStrike" dirty="0">
                          <a:solidFill>
                            <a:srgbClr val="000000"/>
                          </a:solidFill>
                          <a:effectLst/>
                          <a:latin typeface="Calibri" panose="020F0502020204030204" pitchFamily="34" charset="0"/>
                        </a:rPr>
                        <a:t>f1-score</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0.951342</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0.952303</a:t>
                      </a:r>
                    </a:p>
                  </a:txBody>
                  <a:tcPr marL="9525" marR="9525" marT="9525" marB="0" anchor="b">
                    <a:lnL>
                      <a:noFill/>
                    </a:lnL>
                    <a:lnR>
                      <a:noFill/>
                    </a:lnR>
                    <a:lnT>
                      <a:noFill/>
                    </a:lnT>
                    <a:lnB>
                      <a:noFill/>
                    </a:lnB>
                  </a:tcPr>
                </a:tc>
                <a:tc>
                  <a:txBody>
                    <a:bodyPr/>
                    <a:lstStyle/>
                    <a:p>
                      <a:pPr algn="r" fontAlgn="b"/>
                      <a:r>
                        <a:rPr lang="en-US" sz="1100" b="1" i="0" u="none" strike="noStrike">
                          <a:solidFill>
                            <a:srgbClr val="000000"/>
                          </a:solidFill>
                          <a:effectLst/>
                          <a:latin typeface="Calibri" panose="020F0502020204030204" pitchFamily="34" charset="0"/>
                        </a:rPr>
                        <a:t>0.951827</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0.9518225</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0.951805706</a:t>
                      </a:r>
                    </a:p>
                  </a:txBody>
                  <a:tcPr marL="9525" marR="9525" marT="9525" marB="0" anchor="b">
                    <a:lnL>
                      <a:noFill/>
                    </a:lnL>
                    <a:lnR>
                      <a:noFill/>
                    </a:lnR>
                    <a:lnT>
                      <a:noFill/>
                    </a:lnT>
                    <a:lnB>
                      <a:noFill/>
                    </a:lnB>
                  </a:tcPr>
                </a:tc>
                <a:extLst>
                  <a:ext uri="{0D108BD9-81ED-4DB2-BD59-A6C34878D82A}">
                    <a16:rowId xmlns:a16="http://schemas.microsoft.com/office/drawing/2014/main" val="862190237"/>
                  </a:ext>
                </a:extLst>
              </a:tr>
              <a:tr h="190500">
                <a:tc>
                  <a:txBody>
                    <a:bodyPr/>
                    <a:lstStyle/>
                    <a:p>
                      <a:pPr algn="l" fontAlgn="b"/>
                      <a:r>
                        <a:rPr lang="en-US" sz="1100" b="0" i="0" u="none" strike="noStrike">
                          <a:solidFill>
                            <a:srgbClr val="000000"/>
                          </a:solidFill>
                          <a:effectLst/>
                          <a:latin typeface="Calibri" panose="020F0502020204030204" pitchFamily="34" charset="0"/>
                        </a:rPr>
                        <a:t>support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623</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581</a:t>
                      </a:r>
                    </a:p>
                  </a:txBody>
                  <a:tcPr marL="9525" marR="9525" marT="9525" marB="0" anchor="b">
                    <a:lnL>
                      <a:noFill/>
                    </a:lnL>
                    <a:lnR>
                      <a:noFill/>
                    </a:lnR>
                    <a:lnT>
                      <a:noFill/>
                    </a:lnT>
                    <a:lnB>
                      <a:noFill/>
                    </a:lnB>
                  </a:tcPr>
                </a:tc>
                <a:tc>
                  <a:txBody>
                    <a:bodyPr/>
                    <a:lstStyle/>
                    <a:p>
                      <a:pPr algn="r" fontAlgn="b"/>
                      <a:r>
                        <a:rPr lang="en-US" sz="1100" b="1" i="0" u="none" strike="noStrike" dirty="0">
                          <a:solidFill>
                            <a:srgbClr val="000000"/>
                          </a:solidFill>
                          <a:effectLst/>
                          <a:latin typeface="Calibri" panose="020F0502020204030204" pitchFamily="34" charset="0"/>
                        </a:rPr>
                        <a:t>0.951827</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1204</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1204</a:t>
                      </a:r>
                    </a:p>
                  </a:txBody>
                  <a:tcPr marL="9525" marR="9525" marT="9525" marB="0" anchor="b">
                    <a:lnL>
                      <a:noFill/>
                    </a:lnL>
                    <a:lnR>
                      <a:noFill/>
                    </a:lnR>
                    <a:lnT>
                      <a:noFill/>
                    </a:lnT>
                    <a:lnB>
                      <a:noFill/>
                    </a:lnB>
                  </a:tcPr>
                </a:tc>
                <a:extLst>
                  <a:ext uri="{0D108BD9-81ED-4DB2-BD59-A6C34878D82A}">
                    <a16:rowId xmlns:a16="http://schemas.microsoft.com/office/drawing/2014/main" val="3270028187"/>
                  </a:ext>
                </a:extLst>
              </a:tr>
            </a:tbl>
          </a:graphicData>
        </a:graphic>
      </p:graphicFrame>
      <p:sp>
        <p:nvSpPr>
          <p:cNvPr id="7" name="TextBox 6"/>
          <p:cNvSpPr txBox="1"/>
          <p:nvPr/>
        </p:nvSpPr>
        <p:spPr>
          <a:xfrm>
            <a:off x="1589006" y="1600271"/>
            <a:ext cx="1715534" cy="307777"/>
          </a:xfrm>
          <a:prstGeom prst="rect">
            <a:avLst/>
          </a:prstGeom>
          <a:noFill/>
        </p:spPr>
        <p:txBody>
          <a:bodyPr wrap="none" rtlCol="0">
            <a:spAutoFit/>
          </a:bodyPr>
          <a:lstStyle/>
          <a:p>
            <a:r>
              <a:rPr lang="en-US" b="1" dirty="0" smtClean="0"/>
              <a:t>Classification Report</a:t>
            </a:r>
            <a:endParaRPr lang="en-US" b="1" dirty="0"/>
          </a:p>
        </p:txBody>
      </p:sp>
      <p:grpSp>
        <p:nvGrpSpPr>
          <p:cNvPr id="8" name="Group 7"/>
          <p:cNvGrpSpPr/>
          <p:nvPr/>
        </p:nvGrpSpPr>
        <p:grpSpPr>
          <a:xfrm>
            <a:off x="5100320" y="1054340"/>
            <a:ext cx="2957797" cy="2193073"/>
            <a:chOff x="5303862" y="3097161"/>
            <a:chExt cx="2622175" cy="1975034"/>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862" y="3233562"/>
              <a:ext cx="2622175" cy="1838633"/>
            </a:xfrm>
            <a:prstGeom prst="rect">
              <a:avLst/>
            </a:prstGeom>
          </p:spPr>
        </p:pic>
        <p:sp>
          <p:nvSpPr>
            <p:cNvPr id="10" name="TextBox 9"/>
            <p:cNvSpPr txBox="1"/>
            <p:nvPr/>
          </p:nvSpPr>
          <p:spPr>
            <a:xfrm>
              <a:off x="5892636" y="3097161"/>
              <a:ext cx="1471878" cy="307777"/>
            </a:xfrm>
            <a:prstGeom prst="rect">
              <a:avLst/>
            </a:prstGeom>
            <a:noFill/>
          </p:spPr>
          <p:txBody>
            <a:bodyPr wrap="none" rtlCol="0">
              <a:spAutoFit/>
            </a:bodyPr>
            <a:lstStyle/>
            <a:p>
              <a:r>
                <a:rPr lang="en-US" b="1" dirty="0" smtClean="0"/>
                <a:t>Confusion Matrix</a:t>
              </a:r>
              <a:endParaRPr lang="en-US" b="1" dirty="0"/>
            </a:p>
          </p:txBody>
        </p:sp>
      </p:grpSp>
      <p:sp>
        <p:nvSpPr>
          <p:cNvPr id="3" name="Rectangle 2"/>
          <p:cNvSpPr/>
          <p:nvPr/>
        </p:nvSpPr>
        <p:spPr>
          <a:xfrm>
            <a:off x="205025" y="1023642"/>
            <a:ext cx="1580882" cy="369332"/>
          </a:xfrm>
          <a:prstGeom prst="rect">
            <a:avLst/>
          </a:prstGeom>
        </p:spPr>
        <p:txBody>
          <a:bodyPr wrap="none">
            <a:spAutoFit/>
          </a:bodyPr>
          <a:lstStyle/>
          <a:p>
            <a:r>
              <a:rPr lang="en-US" sz="1800" b="1" dirty="0"/>
              <a:t>Model </a:t>
            </a:r>
            <a:r>
              <a:rPr lang="en-US" sz="1800" b="1" dirty="0" smtClean="0"/>
              <a:t>Metrics</a:t>
            </a:r>
            <a:endParaRPr lang="en-US" sz="1800" b="1" dirty="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65000"/>
          </a:schemeClr>
        </a:solidFill>
        <a:effectLst/>
      </p:bgPr>
    </p:bg>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t>Interpretation</a:t>
            </a:r>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p:cNvSpPr txBox="1"/>
          <p:nvPr/>
        </p:nvSpPr>
        <p:spPr>
          <a:xfrm>
            <a:off x="205025" y="884593"/>
            <a:ext cx="2752677" cy="369332"/>
          </a:xfrm>
          <a:prstGeom prst="rect">
            <a:avLst/>
          </a:prstGeom>
          <a:noFill/>
        </p:spPr>
        <p:txBody>
          <a:bodyPr wrap="none" rtlCol="0">
            <a:spAutoFit/>
          </a:bodyPr>
          <a:lstStyle/>
          <a:p>
            <a:r>
              <a:rPr lang="en-US" sz="1800" b="1" dirty="0" smtClean="0"/>
              <a:t>Model Feature Importance</a:t>
            </a:r>
            <a:endParaRPr lang="en-US" sz="1800" b="1" dirty="0"/>
          </a:p>
        </p:txBody>
      </p:sp>
      <p:graphicFrame>
        <p:nvGraphicFramePr>
          <p:cNvPr id="7" name="Chart 6"/>
          <p:cNvGraphicFramePr>
            <a:graphicFrameLocks/>
          </p:cNvGraphicFramePr>
          <p:nvPr>
            <p:extLst>
              <p:ext uri="{D42A27DB-BD31-4B8C-83A1-F6EECF244321}">
                <p14:modId xmlns:p14="http://schemas.microsoft.com/office/powerpoint/2010/main" val="1783348791"/>
              </p:ext>
            </p:extLst>
          </p:nvPr>
        </p:nvGraphicFramePr>
        <p:xfrm>
          <a:off x="205026" y="1253925"/>
          <a:ext cx="4997596" cy="3748999"/>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5378245" y="1054341"/>
            <a:ext cx="3545038" cy="1815882"/>
          </a:xfrm>
          <a:prstGeom prst="rect">
            <a:avLst/>
          </a:prstGeom>
          <a:noFill/>
        </p:spPr>
        <p:txBody>
          <a:bodyPr wrap="square" rtlCol="0">
            <a:spAutoFit/>
          </a:bodyPr>
          <a:lstStyle/>
          <a:p>
            <a:r>
              <a:rPr lang="en-US" dirty="0" smtClean="0"/>
              <a:t>The top features that our model uses to make predictions are:</a:t>
            </a:r>
          </a:p>
          <a:p>
            <a:pPr marL="285750" indent="-285750">
              <a:buFont typeface="Arial" panose="020B0604020202020204" pitchFamily="34" charset="0"/>
              <a:buChar char="•"/>
            </a:pPr>
            <a:r>
              <a:rPr lang="en-US" dirty="0"/>
              <a:t>past_3_years_bike_related_purchases</a:t>
            </a:r>
          </a:p>
          <a:p>
            <a:pPr marL="285750" indent="-285750">
              <a:buFont typeface="Arial" panose="020B0604020202020204" pitchFamily="34" charset="0"/>
              <a:buChar char="•"/>
            </a:pPr>
            <a:r>
              <a:rPr lang="en-US" dirty="0" smtClean="0"/>
              <a:t>age</a:t>
            </a:r>
            <a:endParaRPr lang="en-US" dirty="0"/>
          </a:p>
          <a:p>
            <a:pPr marL="285750" indent="-285750">
              <a:buFont typeface="Arial" panose="020B0604020202020204" pitchFamily="34" charset="0"/>
              <a:buChar char="•"/>
            </a:pPr>
            <a:r>
              <a:rPr lang="en-US" dirty="0" smtClean="0"/>
              <a:t>tenure</a:t>
            </a:r>
          </a:p>
          <a:p>
            <a:pPr marL="285750" indent="-285750">
              <a:buFont typeface="Arial" panose="020B0604020202020204" pitchFamily="34" charset="0"/>
              <a:buChar char="•"/>
            </a:pPr>
            <a:r>
              <a:rPr lang="en-US" dirty="0" smtClean="0"/>
              <a:t>property_valuation</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56726332"/>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06"/>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58" name="Shape 107"/>
          <p:cNvSpPr/>
          <p:nvPr/>
        </p:nvSpPr>
        <p:spPr>
          <a:xfrm>
            <a:off x="537899" y="1895175"/>
            <a:ext cx="3953102" cy="7797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t>Appendix</a:t>
            </a:r>
          </a:p>
        </p:txBody>
      </p:sp>
      <p:sp>
        <p:nvSpPr>
          <p:cNvPr id="15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Shape 11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62" name="Shape 114"/>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Appendix</a:t>
            </a:r>
          </a:p>
        </p:txBody>
      </p:sp>
      <p:sp>
        <p:nvSpPr>
          <p:cNvPr id="164"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5" name="Shape 115"/>
          <p:cNvSpPr/>
          <p:nvPr/>
        </p:nvSpPr>
        <p:spPr>
          <a:xfrm>
            <a:off x="205025" y="1083299"/>
            <a:ext cx="8565600" cy="516327"/>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dirty="0"/>
              <a:t>Additional Materials</a:t>
            </a:r>
            <a:endParaRPr dirty="0"/>
          </a:p>
        </p:txBody>
      </p:sp>
      <p:sp>
        <p:nvSpPr>
          <p:cNvPr id="6" name="TextBox 5">
            <a:extLst>
              <a:ext uri="{FF2B5EF4-FFF2-40B4-BE49-F238E27FC236}">
                <a16:creationId xmlns:a16="http://schemas.microsoft.com/office/drawing/2014/main" id="{020178BD-DCEB-0A48-A88A-616251335C90}"/>
              </a:ext>
            </a:extLst>
          </p:cNvPr>
          <p:cNvSpPr txBox="1"/>
          <p:nvPr/>
        </p:nvSpPr>
        <p:spPr>
          <a:xfrm>
            <a:off x="938254" y="2059388"/>
            <a:ext cx="2881556" cy="1815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HU" b="1" dirty="0"/>
              <a:t>Data Exploration Toolset</a:t>
            </a:r>
            <a:r>
              <a:rPr lang="en-US" b="1" dirty="0"/>
              <a:t>: </a:t>
            </a:r>
          </a:p>
          <a:p>
            <a:pPr marL="0" marR="0" indent="0" algn="l" defTabSz="914400" rtl="0" fontAlgn="auto" latinLnBrk="0" hangingPunct="0">
              <a:lnSpc>
                <a:spcPct val="100000"/>
              </a:lnSpc>
              <a:spcBef>
                <a:spcPts val="0"/>
              </a:spcBef>
              <a:spcAft>
                <a:spcPts val="0"/>
              </a:spcAft>
              <a:buClrTx/>
              <a:buSzTx/>
              <a:buFontTx/>
              <a:buNone/>
              <a:tabLst/>
            </a:pPr>
            <a:r>
              <a:rPr lang="en-US" dirty="0" smtClean="0"/>
              <a:t>Python, </a:t>
            </a:r>
            <a:r>
              <a:rPr lang="en-US" dirty="0"/>
              <a:t>Pandas, </a:t>
            </a:r>
            <a:r>
              <a:rPr lang="en-US" dirty="0" smtClean="0"/>
              <a:t>Excel</a:t>
            </a: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solidFill>
                  <a:srgbClr val="000000"/>
                </a:solidFill>
                <a:effectLst/>
                <a:uFillTx/>
                <a:latin typeface="+mn-lt"/>
                <a:ea typeface="+mn-ea"/>
                <a:cs typeface="+mn-cs"/>
                <a:sym typeface="Arial"/>
              </a:rPr>
              <a:t>Data Visualizations toolset</a:t>
            </a:r>
            <a:r>
              <a:rPr lang="en-US" b="1" dirty="0"/>
              <a:t>: </a:t>
            </a:r>
          </a:p>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smtClean="0">
                <a:ln>
                  <a:noFill/>
                </a:ln>
                <a:solidFill>
                  <a:srgbClr val="000000"/>
                </a:solidFill>
                <a:effectLst/>
                <a:uFillTx/>
                <a:latin typeface="+mn-lt"/>
                <a:ea typeface="+mn-ea"/>
                <a:cs typeface="+mn-cs"/>
                <a:sym typeface="Arial"/>
              </a:rPr>
              <a:t>Power BI , Plotly</a:t>
            </a:r>
            <a:endParaRPr kumimoji="0" lang="en-US"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solidFill>
                  <a:srgbClr val="000000"/>
                </a:solidFill>
                <a:effectLst/>
                <a:uFillTx/>
                <a:latin typeface="+mn-lt"/>
                <a:ea typeface="+mn-ea"/>
                <a:cs typeface="+mn-cs"/>
                <a:sym typeface="Arial"/>
              </a:rPr>
              <a:t>Additional Files</a:t>
            </a:r>
            <a:r>
              <a:rPr lang="en-US" b="1" dirty="0"/>
              <a:t>: </a:t>
            </a:r>
            <a:r>
              <a:rPr lang="en-US" dirty="0"/>
              <a:t/>
            </a:r>
            <a:br>
              <a:rPr lang="en-US" dirty="0"/>
            </a:br>
            <a:r>
              <a:rPr lang="en-US" dirty="0"/>
              <a:t>Data quality </a:t>
            </a:r>
            <a:r>
              <a:rPr lang="en-US" dirty="0" smtClean="0"/>
              <a:t>report Analysis Notebook</a:t>
            </a:r>
            <a:endParaRPr kumimoji="0" lang="en-HU"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744</TotalTime>
  <Words>1008</Words>
  <Application>Microsoft Office PowerPoint</Application>
  <PresentationFormat>On-screen Show (16:9)</PresentationFormat>
  <Paragraphs>117</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Open Sans</vt:lpstr>
      <vt:lpstr>Open Sans Extrabold</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DEADPOOL</dc:creator>
  <cp:lastModifiedBy>Hp Pavilion</cp:lastModifiedBy>
  <cp:revision>55</cp:revision>
  <dcterms:modified xsi:type="dcterms:W3CDTF">2023-07-12T07:43:40Z</dcterms:modified>
</cp:coreProperties>
</file>